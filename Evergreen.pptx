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37160" cy="6858000"/>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828800"/>
            <a:ext cx="10911535" cy="274320"/>
          </a:xfrm>
          <a:prstGeom prst="rect">
            <a:avLst/>
          </a:prstGeom>
          <a:noFill/>
        </p:spPr>
        <p:txBody>
          <a:bodyPr wrap="square" anchor="t" lIns="0" rIns="0" tIns="0" bIns="0">
            <a:spAutoFit/>
          </a:bodyPr>
          <a:lstStyle/>
          <a:p>
            <a:pPr algn="l">
              <a:lnSpc>
                <a:spcPct val="115000"/>
              </a:lnSpc>
              <a:spcBef>
                <a:spcPts val="0"/>
              </a:spcBef>
              <a:spcAft>
                <a:spcPts val="500"/>
              </a:spcAft>
            </a:pPr>
            <a:r>
              <a:rPr sz="1150" b="1">
                <a:solidFill>
                  <a:srgbClr val="BE4A15"/>
                </a:solidFill>
                <a:latin typeface="Consolas"/>
              </a:rPr>
              <a:t>INTERNAL AI PRODUCT INITIATIVE</a:t>
            </a:r>
          </a:p>
        </p:txBody>
      </p:sp>
      <p:sp>
        <p:nvSpPr>
          <p:cNvPr id="5" name="TextBox 4"/>
          <p:cNvSpPr txBox="1"/>
          <p:nvPr/>
        </p:nvSpPr>
        <p:spPr>
          <a:xfrm>
            <a:off x="640080" y="2240280"/>
            <a:ext cx="10911535" cy="1005840"/>
          </a:xfrm>
          <a:prstGeom prst="rect">
            <a:avLst/>
          </a:prstGeom>
          <a:noFill/>
        </p:spPr>
        <p:txBody>
          <a:bodyPr wrap="square" anchor="t" lIns="0" rIns="0" tIns="0" bIns="0">
            <a:spAutoFit/>
          </a:bodyPr>
          <a:lstStyle/>
          <a:p>
            <a:pPr algn="l">
              <a:lnSpc>
                <a:spcPct val="90000"/>
              </a:lnSpc>
              <a:spcBef>
                <a:spcPts val="0"/>
              </a:spcBef>
              <a:spcAft>
                <a:spcPts val="500"/>
              </a:spcAft>
            </a:pPr>
            <a:r>
              <a:rPr sz="6200" b="1">
                <a:solidFill>
                  <a:srgbClr val="14181F"/>
                </a:solidFill>
                <a:latin typeface="Calibri"/>
              </a:rPr>
              <a:t>Evergreen</a:t>
            </a:r>
          </a:p>
        </p:txBody>
      </p:sp>
      <p:sp>
        <p:nvSpPr>
          <p:cNvPr id="6" name="TextBox 5"/>
          <p:cNvSpPr txBox="1"/>
          <p:nvPr/>
        </p:nvSpPr>
        <p:spPr>
          <a:xfrm>
            <a:off x="640080" y="3291840"/>
            <a:ext cx="8778240" cy="1097280"/>
          </a:xfrm>
          <a:prstGeom prst="rect">
            <a:avLst/>
          </a:prstGeom>
          <a:noFill/>
        </p:spPr>
        <p:txBody>
          <a:bodyPr wrap="square" anchor="t" lIns="0" rIns="0" tIns="0" bIns="0">
            <a:spAutoFit/>
          </a:bodyPr>
          <a:lstStyle/>
          <a:p>
            <a:pPr algn="l">
              <a:lnSpc>
                <a:spcPct val="130000"/>
              </a:lnSpc>
              <a:spcBef>
                <a:spcPts val="0"/>
              </a:spcBef>
              <a:spcAft>
                <a:spcPts val="500"/>
              </a:spcAft>
            </a:pPr>
            <a:r>
              <a:rPr sz="1800" b="0">
                <a:solidFill>
                  <a:srgbClr val="454E5C"/>
                </a:solidFill>
                <a:latin typeface="Calibri"/>
              </a:rPr>
              <a:t>Turns a screen recording into a step-by-step guide — and when the software changes, shows exactly which steps are no longer true.</a:t>
            </a:r>
          </a:p>
        </p:txBody>
      </p:sp>
      <p:sp>
        <p:nvSpPr>
          <p:cNvPr id="7" name="Rectangle 6"/>
          <p:cNvSpPr/>
          <p:nvPr/>
        </p:nvSpPr>
        <p:spPr>
          <a:xfrm>
            <a:off x="640080" y="4663440"/>
            <a:ext cx="2926080" cy="19050"/>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40080" y="4892040"/>
            <a:ext cx="7315200" cy="274320"/>
          </a:xfrm>
          <a:prstGeom prst="rect">
            <a:avLst/>
          </a:prstGeom>
          <a:noFill/>
        </p:spPr>
        <p:txBody>
          <a:bodyPr wrap="square" anchor="t" lIns="0" rIns="0" tIns="0" bIns="0">
            <a:spAutoFit/>
          </a:bodyPr>
          <a:lstStyle/>
          <a:p>
            <a:pPr algn="l">
              <a:lnSpc>
                <a:spcPct val="115000"/>
              </a:lnSpc>
              <a:spcBef>
                <a:spcPts val="0"/>
              </a:spcBef>
              <a:spcAft>
                <a:spcPts val="500"/>
              </a:spcAft>
            </a:pPr>
            <a:r>
              <a:rPr sz="1350" b="1">
                <a:solidFill>
                  <a:srgbClr val="14181F"/>
                </a:solidFill>
                <a:latin typeface="Calibri"/>
              </a:rPr>
              <a:t>Kaustuk Raj</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640080"/>
            <a:ext cx="10911535" cy="219456"/>
          </a:xfrm>
          <a:prstGeom prst="rect">
            <a:avLst/>
          </a:prstGeom>
          <a:noFill/>
        </p:spPr>
        <p:txBody>
          <a:bodyPr wrap="square" anchor="t" lIns="0" rIns="0" tIns="0" bIns="0">
            <a:spAutoFit/>
          </a:bodyPr>
          <a:lstStyle/>
          <a:p>
            <a:pPr algn="l">
              <a:lnSpc>
                <a:spcPct val="115000"/>
              </a:lnSpc>
              <a:spcBef>
                <a:spcPts val="0"/>
              </a:spcBef>
              <a:spcAft>
                <a:spcPts val="500"/>
              </a:spcAft>
            </a:pPr>
            <a:r>
              <a:rPr sz="1050" b="1">
                <a:solidFill>
                  <a:srgbClr val="BE4A15"/>
                </a:solidFill>
                <a:latin typeface="Consolas"/>
              </a:rPr>
              <a:t>01</a:t>
            </a:r>
          </a:p>
        </p:txBody>
      </p:sp>
      <p:sp>
        <p:nvSpPr>
          <p:cNvPr id="4" name="TextBox 3"/>
          <p:cNvSpPr txBox="1"/>
          <p:nvPr/>
        </p:nvSpPr>
        <p:spPr>
          <a:xfrm>
            <a:off x="640080" y="914400"/>
            <a:ext cx="10911535" cy="548640"/>
          </a:xfrm>
          <a:prstGeom prst="rect">
            <a:avLst/>
          </a:prstGeom>
          <a:noFill/>
        </p:spPr>
        <p:txBody>
          <a:bodyPr wrap="square" anchor="t" lIns="0" rIns="0" tIns="0" bIns="0">
            <a:spAutoFit/>
          </a:bodyPr>
          <a:lstStyle/>
          <a:p>
            <a:pPr algn="l">
              <a:lnSpc>
                <a:spcPct val="95000"/>
              </a:lnSpc>
              <a:spcBef>
                <a:spcPts val="0"/>
              </a:spcBef>
              <a:spcAft>
                <a:spcPts val="500"/>
              </a:spcAft>
            </a:pPr>
            <a:r>
              <a:rPr sz="3100" b="1">
                <a:solidFill>
                  <a:srgbClr val="14181F"/>
                </a:solidFill>
                <a:latin typeface="Calibri"/>
              </a:rPr>
              <a:t>Introduction</a:t>
            </a:r>
          </a:p>
        </p:txBody>
      </p:sp>
      <p:sp>
        <p:nvSpPr>
          <p:cNvPr id="5" name="Rectangle 4"/>
          <p:cNvSpPr/>
          <p:nvPr/>
        </p:nvSpPr>
        <p:spPr>
          <a:xfrm>
            <a:off x="640080" y="6309360"/>
            <a:ext cx="10911535" cy="9525"/>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40080" y="6419088"/>
            <a:ext cx="6400800" cy="228600"/>
          </a:xfrm>
          <a:prstGeom prst="rect">
            <a:avLst/>
          </a:prstGeom>
          <a:noFill/>
        </p:spPr>
        <p:txBody>
          <a:bodyPr wrap="square" anchor="t" lIns="0" rIns="0" tIns="0" bIns="0">
            <a:spAutoFit/>
          </a:bodyPr>
          <a:lstStyle/>
          <a:p>
            <a:pPr algn="l">
              <a:lnSpc>
                <a:spcPct val="115000"/>
              </a:lnSpc>
              <a:spcBef>
                <a:spcPts val="0"/>
              </a:spcBef>
              <a:spcAft>
                <a:spcPts val="500"/>
              </a:spcAft>
            </a:pPr>
            <a:r>
              <a:rPr sz="900" b="0">
                <a:solidFill>
                  <a:srgbClr val="6E7885"/>
                </a:solidFill>
                <a:latin typeface="Consolas"/>
              </a:rPr>
              <a:t>Evergreen — keeping step-by-step guides true after the software changes</a:t>
            </a:r>
          </a:p>
        </p:txBody>
      </p:sp>
      <p:sp>
        <p:nvSpPr>
          <p:cNvPr id="7" name="TextBox 6"/>
          <p:cNvSpPr txBox="1"/>
          <p:nvPr/>
        </p:nvSpPr>
        <p:spPr>
          <a:xfrm>
            <a:off x="10637215" y="6419088"/>
            <a:ext cx="914400" cy="228600"/>
          </a:xfrm>
          <a:prstGeom prst="rect">
            <a:avLst/>
          </a:prstGeom>
          <a:noFill/>
        </p:spPr>
        <p:txBody>
          <a:bodyPr wrap="square" anchor="t" lIns="0" rIns="0" tIns="0" bIns="0">
            <a:spAutoFit/>
          </a:bodyPr>
          <a:lstStyle/>
          <a:p>
            <a:pPr algn="r">
              <a:lnSpc>
                <a:spcPct val="115000"/>
              </a:lnSpc>
              <a:spcBef>
                <a:spcPts val="0"/>
              </a:spcBef>
              <a:spcAft>
                <a:spcPts val="500"/>
              </a:spcAft>
            </a:pPr>
            <a:r>
              <a:rPr sz="900" b="0">
                <a:solidFill>
                  <a:srgbClr val="6E7885"/>
                </a:solidFill>
                <a:latin typeface="Consolas"/>
              </a:rPr>
              <a:t>02</a:t>
            </a:r>
          </a:p>
        </p:txBody>
      </p:sp>
      <p:sp>
        <p:nvSpPr>
          <p:cNvPr id="8" name="Rectangle 7"/>
          <p:cNvSpPr/>
          <p:nvPr/>
        </p:nvSpPr>
        <p:spPr>
          <a:xfrm>
            <a:off x="640080" y="1572768"/>
            <a:ext cx="5486400" cy="1783080"/>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572768"/>
            <a:ext cx="45720" cy="178308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77824" y="1755648"/>
            <a:ext cx="5010912" cy="292608"/>
          </a:xfrm>
          <a:prstGeom prst="rect">
            <a:avLst/>
          </a:prstGeom>
          <a:noFill/>
        </p:spPr>
        <p:txBody>
          <a:bodyPr wrap="square" anchor="t" lIns="0" rIns="0" tIns="0" bIns="0">
            <a:spAutoFit/>
          </a:bodyPr>
          <a:lstStyle/>
          <a:p>
            <a:pPr algn="l">
              <a:lnSpc>
                <a:spcPct val="100000"/>
              </a:lnSpc>
              <a:spcBef>
                <a:spcPts val="0"/>
              </a:spcBef>
              <a:spcAft>
                <a:spcPts val="500"/>
              </a:spcAft>
            </a:pPr>
            <a:r>
              <a:rPr sz="1500" b="1">
                <a:solidFill>
                  <a:srgbClr val="14181F"/>
                </a:solidFill>
                <a:latin typeface="Calibri"/>
              </a:rPr>
              <a:t>What it does</a:t>
            </a:r>
          </a:p>
        </p:txBody>
      </p:sp>
      <p:sp>
        <p:nvSpPr>
          <p:cNvPr id="11" name="TextBox 10"/>
          <p:cNvSpPr txBox="1"/>
          <p:nvPr/>
        </p:nvSpPr>
        <p:spPr>
          <a:xfrm>
            <a:off x="877824" y="2157984"/>
            <a:ext cx="5010912" cy="1051560"/>
          </a:xfrm>
          <a:prstGeom prst="rect">
            <a:avLst/>
          </a:prstGeom>
          <a:noFill/>
        </p:spPr>
        <p:txBody>
          <a:bodyPr wrap="square" anchor="t" lIns="0" rIns="0" tIns="0" bIns="0">
            <a:spAutoFit/>
          </a:bodyPr>
          <a:lstStyle/>
          <a:p>
            <a:pPr algn="l">
              <a:lnSpc>
                <a:spcPct val="120000"/>
              </a:lnSpc>
              <a:spcBef>
                <a:spcPts val="0"/>
              </a:spcBef>
              <a:spcAft>
                <a:spcPts val="500"/>
              </a:spcAft>
            </a:pPr>
            <a:r>
              <a:rPr sz="1200" b="0">
                <a:solidFill>
                  <a:srgbClr val="454E5C"/>
                </a:solidFill>
                <a:latin typeface="Calibri"/>
              </a:rPr>
              <a:t>Someone records their screen while doing a task.
Evergreen writes the step-by-step guide from that recording — instructions, the button pressed, what happens next, and a screenshot for every step.</a:t>
            </a:r>
          </a:p>
        </p:txBody>
      </p:sp>
      <p:sp>
        <p:nvSpPr>
          <p:cNvPr id="12" name="Rectangle 11"/>
          <p:cNvSpPr/>
          <p:nvPr/>
        </p:nvSpPr>
        <p:spPr>
          <a:xfrm>
            <a:off x="6400800" y="1572768"/>
            <a:ext cx="5486400" cy="1783080"/>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0" y="1572768"/>
            <a:ext cx="45720" cy="1783080"/>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638544" y="1755648"/>
            <a:ext cx="5010912" cy="292608"/>
          </a:xfrm>
          <a:prstGeom prst="rect">
            <a:avLst/>
          </a:prstGeom>
          <a:noFill/>
        </p:spPr>
        <p:txBody>
          <a:bodyPr wrap="square" anchor="t" lIns="0" rIns="0" tIns="0" bIns="0">
            <a:spAutoFit/>
          </a:bodyPr>
          <a:lstStyle/>
          <a:p>
            <a:pPr algn="l">
              <a:lnSpc>
                <a:spcPct val="100000"/>
              </a:lnSpc>
              <a:spcBef>
                <a:spcPts val="0"/>
              </a:spcBef>
              <a:spcAft>
                <a:spcPts val="500"/>
              </a:spcAft>
            </a:pPr>
            <a:r>
              <a:rPr sz="1500" b="1">
                <a:solidFill>
                  <a:srgbClr val="14181F"/>
                </a:solidFill>
                <a:latin typeface="Calibri"/>
              </a:rPr>
              <a:t>Why it exists</a:t>
            </a:r>
          </a:p>
        </p:txBody>
      </p:sp>
      <p:sp>
        <p:nvSpPr>
          <p:cNvPr id="15" name="TextBox 14"/>
          <p:cNvSpPr txBox="1"/>
          <p:nvPr/>
        </p:nvSpPr>
        <p:spPr>
          <a:xfrm>
            <a:off x="6638544" y="2157984"/>
            <a:ext cx="5010912" cy="1051560"/>
          </a:xfrm>
          <a:prstGeom prst="rect">
            <a:avLst/>
          </a:prstGeom>
          <a:noFill/>
        </p:spPr>
        <p:txBody>
          <a:bodyPr wrap="square" anchor="t" lIns="0" rIns="0" tIns="0" bIns="0">
            <a:spAutoFit/>
          </a:bodyPr>
          <a:lstStyle/>
          <a:p>
            <a:pPr algn="l">
              <a:lnSpc>
                <a:spcPct val="120000"/>
              </a:lnSpc>
              <a:spcBef>
                <a:spcPts val="0"/>
              </a:spcBef>
              <a:spcAft>
                <a:spcPts val="500"/>
              </a:spcAft>
            </a:pPr>
            <a:r>
              <a:rPr sz="1200" b="0">
                <a:solidFill>
                  <a:srgbClr val="454E5C"/>
                </a:solidFill>
                <a:latin typeface="Calibri"/>
              </a:rPr>
              <a:t>Record the same task again after the software has changed, and it reports which steps changed, appeared, disappeared or moved — without deleting the notes a person added by hand.</a:t>
            </a:r>
          </a:p>
        </p:txBody>
      </p:sp>
      <p:sp>
        <p:nvSpPr>
          <p:cNvPr id="16" name="TextBox 15"/>
          <p:cNvSpPr txBox="1"/>
          <p:nvPr/>
        </p:nvSpPr>
        <p:spPr>
          <a:xfrm>
            <a:off x="640080" y="3675888"/>
            <a:ext cx="10911535" cy="292608"/>
          </a:xfrm>
          <a:prstGeom prst="rect">
            <a:avLst/>
          </a:prstGeom>
          <a:noFill/>
        </p:spPr>
        <p:txBody>
          <a:bodyPr wrap="square" anchor="t" lIns="0" rIns="0" tIns="0" bIns="0">
            <a:spAutoFit/>
          </a:bodyPr>
          <a:lstStyle/>
          <a:p>
            <a:pPr algn="l">
              <a:lnSpc>
                <a:spcPct val="115000"/>
              </a:lnSpc>
              <a:spcBef>
                <a:spcPts val="0"/>
              </a:spcBef>
              <a:spcAft>
                <a:spcPts val="500"/>
              </a:spcAft>
            </a:pPr>
            <a:r>
              <a:rPr sz="1800" b="1">
                <a:solidFill>
                  <a:srgbClr val="14181F"/>
                </a:solidFill>
                <a:latin typeface="Calibri"/>
              </a:rPr>
              <a:t>Built for software you use but did not build</a:t>
            </a:r>
          </a:p>
        </p:txBody>
      </p:sp>
      <p:sp>
        <p:nvSpPr>
          <p:cNvPr id="17" name="TextBox 16"/>
          <p:cNvSpPr txBox="1"/>
          <p:nvPr/>
        </p:nvSpPr>
        <p:spPr>
          <a:xfrm>
            <a:off x="640080" y="4096512"/>
            <a:ext cx="10881360" cy="1280160"/>
          </a:xfrm>
          <a:prstGeom prst="rect">
            <a:avLst/>
          </a:prstGeom>
          <a:noFill/>
        </p:spPr>
        <p:txBody>
          <a:bodyPr wrap="square" anchor="t" lIns="0" rIns="0" tIns="0" bIns="0">
            <a:spAutoFit/>
          </a:bodyPr>
          <a:lstStyle/>
          <a:p>
            <a:pPr algn="l">
              <a:lnSpc>
                <a:spcPct val="128000"/>
              </a:lnSpc>
              <a:spcBef>
                <a:spcPts val="0"/>
              </a:spcBef>
              <a:spcAft>
                <a:spcPts val="500"/>
              </a:spcAft>
            </a:pPr>
            <a:r>
              <a:rPr sz="1350" b="0">
                <a:solidFill>
                  <a:srgbClr val="454E5C"/>
                </a:solidFill>
                <a:latin typeface="Calibri"/>
              </a:rPr>
              <a:t>For the teams who write and maintain internal guides — support, operations, training and quality. The software they document is a vendor's product, an internal admin panel, a desktop tool. They cannot see its code, and nobody tells them when it changes. A screen recording is the only source of truth they have.</a:t>
            </a:r>
          </a:p>
          <a:p>
            <a:pPr algn="l">
              <a:lnSpc>
                <a:spcPct val="128000"/>
              </a:lnSpc>
              <a:spcBef>
                <a:spcPts val="900"/>
              </a:spcBef>
              <a:spcAft>
                <a:spcPts val="500"/>
              </a:spcAft>
            </a:pPr>
            <a:r>
              <a:rPr sz="1350" b="0">
                <a:solidFill>
                  <a:srgbClr val="6E7885"/>
                </a:solidFill>
                <a:latin typeface="Calibri"/>
              </a:rPr>
              <a:t>Deliberately not aimed at engineers documenting their own product. They already have release notes and version history, and a recording would be a worse source than the code they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640080"/>
            <a:ext cx="10911535" cy="219456"/>
          </a:xfrm>
          <a:prstGeom prst="rect">
            <a:avLst/>
          </a:prstGeom>
          <a:noFill/>
        </p:spPr>
        <p:txBody>
          <a:bodyPr wrap="square" anchor="t" lIns="0" rIns="0" tIns="0" bIns="0">
            <a:spAutoFit/>
          </a:bodyPr>
          <a:lstStyle/>
          <a:p>
            <a:pPr algn="l">
              <a:lnSpc>
                <a:spcPct val="115000"/>
              </a:lnSpc>
              <a:spcBef>
                <a:spcPts val="0"/>
              </a:spcBef>
              <a:spcAft>
                <a:spcPts val="500"/>
              </a:spcAft>
            </a:pPr>
            <a:r>
              <a:rPr sz="1050" b="1">
                <a:solidFill>
                  <a:srgbClr val="BE4A15"/>
                </a:solidFill>
                <a:latin typeface="Consolas"/>
              </a:rPr>
              <a:t>02</a:t>
            </a:r>
          </a:p>
        </p:txBody>
      </p:sp>
      <p:sp>
        <p:nvSpPr>
          <p:cNvPr id="4" name="TextBox 3"/>
          <p:cNvSpPr txBox="1"/>
          <p:nvPr/>
        </p:nvSpPr>
        <p:spPr>
          <a:xfrm>
            <a:off x="640080" y="914400"/>
            <a:ext cx="10911535" cy="548640"/>
          </a:xfrm>
          <a:prstGeom prst="rect">
            <a:avLst/>
          </a:prstGeom>
          <a:noFill/>
        </p:spPr>
        <p:txBody>
          <a:bodyPr wrap="square" anchor="t" lIns="0" rIns="0" tIns="0" bIns="0">
            <a:spAutoFit/>
          </a:bodyPr>
          <a:lstStyle/>
          <a:p>
            <a:pPr algn="l">
              <a:lnSpc>
                <a:spcPct val="95000"/>
              </a:lnSpc>
              <a:spcBef>
                <a:spcPts val="0"/>
              </a:spcBef>
              <a:spcAft>
                <a:spcPts val="500"/>
              </a:spcAft>
            </a:pPr>
            <a:r>
              <a:rPr sz="3100" b="1">
                <a:solidFill>
                  <a:srgbClr val="14181F"/>
                </a:solidFill>
                <a:latin typeface="Calibri"/>
              </a:rPr>
              <a:t>What is the idea</a:t>
            </a:r>
          </a:p>
        </p:txBody>
      </p:sp>
      <p:sp>
        <p:nvSpPr>
          <p:cNvPr id="5" name="Rectangle 4"/>
          <p:cNvSpPr/>
          <p:nvPr/>
        </p:nvSpPr>
        <p:spPr>
          <a:xfrm>
            <a:off x="640080" y="6309360"/>
            <a:ext cx="10911535" cy="9525"/>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40080" y="6419088"/>
            <a:ext cx="6400800" cy="228600"/>
          </a:xfrm>
          <a:prstGeom prst="rect">
            <a:avLst/>
          </a:prstGeom>
          <a:noFill/>
        </p:spPr>
        <p:txBody>
          <a:bodyPr wrap="square" anchor="t" lIns="0" rIns="0" tIns="0" bIns="0">
            <a:spAutoFit/>
          </a:bodyPr>
          <a:lstStyle/>
          <a:p>
            <a:pPr algn="l">
              <a:lnSpc>
                <a:spcPct val="115000"/>
              </a:lnSpc>
              <a:spcBef>
                <a:spcPts val="0"/>
              </a:spcBef>
              <a:spcAft>
                <a:spcPts val="500"/>
              </a:spcAft>
            </a:pPr>
            <a:r>
              <a:rPr sz="900" b="0">
                <a:solidFill>
                  <a:srgbClr val="6E7885"/>
                </a:solidFill>
                <a:latin typeface="Consolas"/>
              </a:rPr>
              <a:t>Evergreen — keeping step-by-step guides true after the software changes</a:t>
            </a:r>
          </a:p>
        </p:txBody>
      </p:sp>
      <p:sp>
        <p:nvSpPr>
          <p:cNvPr id="7" name="TextBox 6"/>
          <p:cNvSpPr txBox="1"/>
          <p:nvPr/>
        </p:nvSpPr>
        <p:spPr>
          <a:xfrm>
            <a:off x="10637215" y="6419088"/>
            <a:ext cx="914400" cy="228600"/>
          </a:xfrm>
          <a:prstGeom prst="rect">
            <a:avLst/>
          </a:prstGeom>
          <a:noFill/>
        </p:spPr>
        <p:txBody>
          <a:bodyPr wrap="square" anchor="t" lIns="0" rIns="0" tIns="0" bIns="0">
            <a:spAutoFit/>
          </a:bodyPr>
          <a:lstStyle/>
          <a:p>
            <a:pPr algn="r">
              <a:lnSpc>
                <a:spcPct val="115000"/>
              </a:lnSpc>
              <a:spcBef>
                <a:spcPts val="0"/>
              </a:spcBef>
              <a:spcAft>
                <a:spcPts val="500"/>
              </a:spcAft>
            </a:pPr>
            <a:r>
              <a:rPr sz="900" b="0">
                <a:solidFill>
                  <a:srgbClr val="6E7885"/>
                </a:solidFill>
                <a:latin typeface="Consolas"/>
              </a:rPr>
              <a:t>03</a:t>
            </a:r>
          </a:p>
        </p:txBody>
      </p:sp>
      <p:sp>
        <p:nvSpPr>
          <p:cNvPr id="8" name="Rectangle 7"/>
          <p:cNvSpPr/>
          <p:nvPr/>
        </p:nvSpPr>
        <p:spPr>
          <a:xfrm>
            <a:off x="640080" y="1572768"/>
            <a:ext cx="10972800" cy="1298448"/>
          </a:xfrm>
          <a:prstGeom prst="rect">
            <a:avLst/>
          </a:prstGeom>
          <a:solidFill>
            <a:srgbClr val="FBECE4"/>
          </a:solidFill>
          <a:ln w="9525">
            <a:solidFill>
              <a:srgbClr val="BE4A1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50976" y="1792224"/>
            <a:ext cx="10332720" cy="384048"/>
          </a:xfrm>
          <a:prstGeom prst="rect">
            <a:avLst/>
          </a:prstGeom>
          <a:noFill/>
        </p:spPr>
        <p:txBody>
          <a:bodyPr wrap="square" anchor="t" lIns="0" rIns="0" tIns="0" bIns="0">
            <a:spAutoFit/>
          </a:bodyPr>
          <a:lstStyle/>
          <a:p>
            <a:pPr algn="l">
              <a:lnSpc>
                <a:spcPct val="100000"/>
              </a:lnSpc>
              <a:spcBef>
                <a:spcPts val="0"/>
              </a:spcBef>
              <a:spcAft>
                <a:spcPts val="500"/>
              </a:spcAft>
            </a:pPr>
            <a:r>
              <a:rPr sz="2100" b="1">
                <a:solidFill>
                  <a:srgbClr val="14181F"/>
                </a:solidFill>
                <a:latin typeface="Calibri"/>
              </a:rPr>
              <a:t>A step is a set of named fields — never a paragraph of text</a:t>
            </a:r>
          </a:p>
        </p:txBody>
      </p:sp>
      <p:sp>
        <p:nvSpPr>
          <p:cNvPr id="10" name="TextBox 9"/>
          <p:cNvSpPr txBox="1"/>
          <p:nvPr/>
        </p:nvSpPr>
        <p:spPr>
          <a:xfrm>
            <a:off x="950976" y="2286000"/>
            <a:ext cx="10332720" cy="457200"/>
          </a:xfrm>
          <a:prstGeom prst="rect">
            <a:avLst/>
          </a:prstGeom>
          <a:noFill/>
        </p:spPr>
        <p:txBody>
          <a:bodyPr wrap="square" anchor="t" lIns="0" rIns="0" tIns="0" bIns="0">
            <a:spAutoFit/>
          </a:bodyPr>
          <a:lstStyle/>
          <a:p>
            <a:pPr algn="l">
              <a:lnSpc>
                <a:spcPct val="122000"/>
              </a:lnSpc>
              <a:spcBef>
                <a:spcPts val="0"/>
              </a:spcBef>
              <a:spcAft>
                <a:spcPts val="500"/>
              </a:spcAft>
            </a:pPr>
            <a:r>
              <a:rPr sz="1250" b="0">
                <a:solidFill>
                  <a:srgbClr val="454E5C"/>
                </a:solidFill>
                <a:latin typeface="Calibri"/>
              </a:rPr>
              <a:t>The model never writes prose. It fills in a fixed form: what to do, which control was used and what it was called, what should happen next, and the screenshot it came from. Formatted text is produced only at the very end, when the guide is exported.</a:t>
            </a:r>
          </a:p>
        </p:txBody>
      </p:sp>
      <p:sp>
        <p:nvSpPr>
          <p:cNvPr id="11" name="TextBox 10"/>
          <p:cNvSpPr txBox="1"/>
          <p:nvPr/>
        </p:nvSpPr>
        <p:spPr>
          <a:xfrm>
            <a:off x="640080" y="3200400"/>
            <a:ext cx="10911535" cy="274320"/>
          </a:xfrm>
          <a:prstGeom prst="rect">
            <a:avLst/>
          </a:prstGeom>
          <a:noFill/>
        </p:spPr>
        <p:txBody>
          <a:bodyPr wrap="square" anchor="t" lIns="0" rIns="0" tIns="0" bIns="0">
            <a:spAutoFit/>
          </a:bodyPr>
          <a:lstStyle/>
          <a:p>
            <a:pPr algn="l">
              <a:lnSpc>
                <a:spcPct val="115000"/>
              </a:lnSpc>
              <a:spcBef>
                <a:spcPts val="0"/>
              </a:spcBef>
              <a:spcAft>
                <a:spcPts val="500"/>
              </a:spcAft>
            </a:pPr>
            <a:r>
              <a:rPr sz="1700" b="1">
                <a:solidFill>
                  <a:srgbClr val="14181F"/>
                </a:solidFill>
                <a:latin typeface="Calibri"/>
              </a:rPr>
              <a:t>Everything the product can do follows from that</a:t>
            </a:r>
          </a:p>
        </p:txBody>
      </p:sp>
      <p:sp>
        <p:nvSpPr>
          <p:cNvPr id="12" name="Rectangle 11"/>
          <p:cNvSpPr/>
          <p:nvPr/>
        </p:nvSpPr>
        <p:spPr>
          <a:xfrm>
            <a:off x="640080" y="3621024"/>
            <a:ext cx="2556433" cy="1572768"/>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3621024"/>
            <a:ext cx="2556433" cy="28575"/>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41248" y="3840480"/>
            <a:ext cx="2154097" cy="457200"/>
          </a:xfrm>
          <a:prstGeom prst="rect">
            <a:avLst/>
          </a:prstGeom>
          <a:noFill/>
        </p:spPr>
        <p:txBody>
          <a:bodyPr wrap="square" anchor="t" lIns="0" rIns="0" tIns="0" bIns="0">
            <a:spAutoFit/>
          </a:bodyPr>
          <a:lstStyle/>
          <a:p>
            <a:pPr algn="l">
              <a:lnSpc>
                <a:spcPct val="105000"/>
              </a:lnSpc>
              <a:spcBef>
                <a:spcPts val="0"/>
              </a:spcBef>
              <a:spcAft>
                <a:spcPts val="500"/>
              </a:spcAft>
            </a:pPr>
            <a:r>
              <a:rPr sz="1250" b="1">
                <a:solidFill>
                  <a:srgbClr val="14181F"/>
                </a:solidFill>
                <a:latin typeface="Calibri"/>
              </a:rPr>
              <a:t>The change can be named</a:t>
            </a:r>
          </a:p>
        </p:txBody>
      </p:sp>
      <p:sp>
        <p:nvSpPr>
          <p:cNvPr id="15" name="TextBox 14"/>
          <p:cNvSpPr txBox="1"/>
          <p:nvPr/>
        </p:nvSpPr>
        <p:spPr>
          <a:xfrm>
            <a:off x="841248" y="4352544"/>
            <a:ext cx="2154097" cy="777240"/>
          </a:xfrm>
          <a:prstGeom prst="rect">
            <a:avLst/>
          </a:prstGeom>
          <a:noFill/>
        </p:spPr>
        <p:txBody>
          <a:bodyPr wrap="square" anchor="t" lIns="0" rIns="0" tIns="0" bIns="0">
            <a:spAutoFit/>
          </a:bodyPr>
          <a:lstStyle/>
          <a:p>
            <a:pPr algn="l">
              <a:lnSpc>
                <a:spcPct val="118000"/>
              </a:lnSpc>
              <a:spcBef>
                <a:spcPts val="0"/>
              </a:spcBef>
              <a:spcAft>
                <a:spcPts val="500"/>
              </a:spcAft>
            </a:pPr>
            <a:r>
              <a:rPr sz="1050" b="0">
                <a:solidFill>
                  <a:srgbClr val="454E5C"/>
                </a:solidFill>
                <a:latin typeface="Calibri"/>
              </a:rPr>
              <a:t>It can say the button label changed from one word to another — instead of "this paragraph is different".</a:t>
            </a:r>
          </a:p>
        </p:txBody>
      </p:sp>
      <p:sp>
        <p:nvSpPr>
          <p:cNvPr id="16" name="Rectangle 15"/>
          <p:cNvSpPr/>
          <p:nvPr/>
        </p:nvSpPr>
        <p:spPr>
          <a:xfrm>
            <a:off x="3425113" y="3621024"/>
            <a:ext cx="2556433" cy="1572768"/>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425113" y="3621024"/>
            <a:ext cx="2556433" cy="28575"/>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26281" y="3840480"/>
            <a:ext cx="2154097" cy="457200"/>
          </a:xfrm>
          <a:prstGeom prst="rect">
            <a:avLst/>
          </a:prstGeom>
          <a:noFill/>
        </p:spPr>
        <p:txBody>
          <a:bodyPr wrap="square" anchor="t" lIns="0" rIns="0" tIns="0" bIns="0">
            <a:spAutoFit/>
          </a:bodyPr>
          <a:lstStyle/>
          <a:p>
            <a:pPr algn="l">
              <a:lnSpc>
                <a:spcPct val="105000"/>
              </a:lnSpc>
              <a:spcBef>
                <a:spcPts val="0"/>
              </a:spcBef>
              <a:spcAft>
                <a:spcPts val="500"/>
              </a:spcAft>
            </a:pPr>
            <a:r>
              <a:rPr sz="1250" b="1">
                <a:solidFill>
                  <a:srgbClr val="14181F"/>
                </a:solidFill>
                <a:latin typeface="Calibri"/>
              </a:rPr>
              <a:t>Changes are reviewed one at a time</a:t>
            </a:r>
          </a:p>
        </p:txBody>
      </p:sp>
      <p:sp>
        <p:nvSpPr>
          <p:cNvPr id="19" name="TextBox 18"/>
          <p:cNvSpPr txBox="1"/>
          <p:nvPr/>
        </p:nvSpPr>
        <p:spPr>
          <a:xfrm>
            <a:off x="3626281" y="4352544"/>
            <a:ext cx="2154097" cy="777240"/>
          </a:xfrm>
          <a:prstGeom prst="rect">
            <a:avLst/>
          </a:prstGeom>
          <a:noFill/>
        </p:spPr>
        <p:txBody>
          <a:bodyPr wrap="square" anchor="t" lIns="0" rIns="0" tIns="0" bIns="0">
            <a:spAutoFit/>
          </a:bodyPr>
          <a:lstStyle/>
          <a:p>
            <a:pPr algn="l">
              <a:lnSpc>
                <a:spcPct val="118000"/>
              </a:lnSpc>
              <a:spcBef>
                <a:spcPts val="0"/>
              </a:spcBef>
              <a:spcAft>
                <a:spcPts val="500"/>
              </a:spcAft>
            </a:pPr>
            <a:r>
              <a:rPr sz="1050" b="0">
                <a:solidFill>
                  <a:srgbClr val="454E5C"/>
                </a:solidFill>
                <a:latin typeface="Calibri"/>
              </a:rPr>
              <a:t>Each step is accepted or rejected on its own, so a guide that is mostly right does not have to be redone.</a:t>
            </a:r>
          </a:p>
        </p:txBody>
      </p:sp>
      <p:sp>
        <p:nvSpPr>
          <p:cNvPr id="20" name="Rectangle 19"/>
          <p:cNvSpPr/>
          <p:nvPr/>
        </p:nvSpPr>
        <p:spPr>
          <a:xfrm>
            <a:off x="6210147" y="3621024"/>
            <a:ext cx="2556433" cy="1572768"/>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10147" y="3621024"/>
            <a:ext cx="2556433" cy="28575"/>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11315" y="3840480"/>
            <a:ext cx="2154097" cy="457200"/>
          </a:xfrm>
          <a:prstGeom prst="rect">
            <a:avLst/>
          </a:prstGeom>
          <a:noFill/>
        </p:spPr>
        <p:txBody>
          <a:bodyPr wrap="square" anchor="t" lIns="0" rIns="0" tIns="0" bIns="0">
            <a:spAutoFit/>
          </a:bodyPr>
          <a:lstStyle/>
          <a:p>
            <a:pPr algn="l">
              <a:lnSpc>
                <a:spcPct val="105000"/>
              </a:lnSpc>
              <a:spcBef>
                <a:spcPts val="0"/>
              </a:spcBef>
              <a:spcAft>
                <a:spcPts val="500"/>
              </a:spcAft>
            </a:pPr>
            <a:r>
              <a:rPr sz="1250" b="1">
                <a:solidFill>
                  <a:srgbClr val="14181F"/>
                </a:solidFill>
                <a:latin typeface="Calibri"/>
              </a:rPr>
              <a:t>Hand-written notes survive</a:t>
            </a:r>
          </a:p>
        </p:txBody>
      </p:sp>
      <p:sp>
        <p:nvSpPr>
          <p:cNvPr id="23" name="TextBox 22"/>
          <p:cNvSpPr txBox="1"/>
          <p:nvPr/>
        </p:nvSpPr>
        <p:spPr>
          <a:xfrm>
            <a:off x="6411315" y="4352544"/>
            <a:ext cx="2154097" cy="777240"/>
          </a:xfrm>
          <a:prstGeom prst="rect">
            <a:avLst/>
          </a:prstGeom>
          <a:noFill/>
        </p:spPr>
        <p:txBody>
          <a:bodyPr wrap="square" anchor="t" lIns="0" rIns="0" tIns="0" bIns="0">
            <a:spAutoFit/>
          </a:bodyPr>
          <a:lstStyle/>
          <a:p>
            <a:pPr algn="l">
              <a:lnSpc>
                <a:spcPct val="118000"/>
              </a:lnSpc>
              <a:spcBef>
                <a:spcPts val="0"/>
              </a:spcBef>
              <a:spcAft>
                <a:spcPts val="500"/>
              </a:spcAft>
            </a:pPr>
            <a:r>
              <a:rPr sz="1050" b="0">
                <a:solidFill>
                  <a:srgbClr val="454E5C"/>
                </a:solidFill>
                <a:latin typeface="Calibri"/>
              </a:rPr>
              <a:t>Fields a person edited are recognised and carried onto the new version, so re-recording is safe.</a:t>
            </a:r>
          </a:p>
        </p:txBody>
      </p:sp>
      <p:sp>
        <p:nvSpPr>
          <p:cNvPr id="24" name="Rectangle 23"/>
          <p:cNvSpPr/>
          <p:nvPr/>
        </p:nvSpPr>
        <p:spPr>
          <a:xfrm>
            <a:off x="8995181" y="3621024"/>
            <a:ext cx="2556433" cy="1572768"/>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995181" y="3621024"/>
            <a:ext cx="2556433" cy="28575"/>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196349" y="3840480"/>
            <a:ext cx="2154097" cy="457200"/>
          </a:xfrm>
          <a:prstGeom prst="rect">
            <a:avLst/>
          </a:prstGeom>
          <a:noFill/>
        </p:spPr>
        <p:txBody>
          <a:bodyPr wrap="square" anchor="t" lIns="0" rIns="0" tIns="0" bIns="0">
            <a:spAutoFit/>
          </a:bodyPr>
          <a:lstStyle/>
          <a:p>
            <a:pPr algn="l">
              <a:lnSpc>
                <a:spcPct val="105000"/>
              </a:lnSpc>
              <a:spcBef>
                <a:spcPts val="0"/>
              </a:spcBef>
              <a:spcAft>
                <a:spcPts val="500"/>
              </a:spcAft>
            </a:pPr>
            <a:r>
              <a:rPr sz="1250" b="1">
                <a:solidFill>
                  <a:srgbClr val="14181F"/>
                </a:solidFill>
                <a:latin typeface="Calibri"/>
              </a:rPr>
              <a:t>Comparing stays cheap</a:t>
            </a:r>
          </a:p>
        </p:txBody>
      </p:sp>
      <p:sp>
        <p:nvSpPr>
          <p:cNvPr id="27" name="TextBox 26"/>
          <p:cNvSpPr txBox="1"/>
          <p:nvPr/>
        </p:nvSpPr>
        <p:spPr>
          <a:xfrm>
            <a:off x="9196349" y="4352544"/>
            <a:ext cx="2154097" cy="777240"/>
          </a:xfrm>
          <a:prstGeom prst="rect">
            <a:avLst/>
          </a:prstGeom>
          <a:noFill/>
        </p:spPr>
        <p:txBody>
          <a:bodyPr wrap="square" anchor="t" lIns="0" rIns="0" tIns="0" bIns="0">
            <a:spAutoFit/>
          </a:bodyPr>
          <a:lstStyle/>
          <a:p>
            <a:pPr algn="l">
              <a:lnSpc>
                <a:spcPct val="118000"/>
              </a:lnSpc>
              <a:spcBef>
                <a:spcPts val="0"/>
              </a:spcBef>
              <a:spcAft>
                <a:spcPts val="500"/>
              </a:spcAft>
            </a:pPr>
            <a:r>
              <a:rPr sz="1050" b="0">
                <a:solidFill>
                  <a:srgbClr val="454E5C"/>
                </a:solidFill>
                <a:latin typeface="Calibri"/>
              </a:rPr>
              <a:t>Structured text is compared directly. Screenshots are only consulted when the text is unclear.</a:t>
            </a:r>
          </a:p>
        </p:txBody>
      </p:sp>
      <p:sp>
        <p:nvSpPr>
          <p:cNvPr id="28" name="TextBox 27"/>
          <p:cNvSpPr txBox="1"/>
          <p:nvPr/>
        </p:nvSpPr>
        <p:spPr>
          <a:xfrm>
            <a:off x="640080" y="5376672"/>
            <a:ext cx="10911535" cy="365760"/>
          </a:xfrm>
          <a:prstGeom prst="rect">
            <a:avLst/>
          </a:prstGeom>
          <a:noFill/>
        </p:spPr>
        <p:txBody>
          <a:bodyPr wrap="square" anchor="t" lIns="0" rIns="0" tIns="0" bIns="0">
            <a:spAutoFit/>
          </a:bodyPr>
          <a:lstStyle/>
          <a:p>
            <a:pPr algn="l">
              <a:lnSpc>
                <a:spcPct val="115000"/>
              </a:lnSpc>
              <a:spcBef>
                <a:spcPts val="0"/>
              </a:spcBef>
              <a:spcAft>
                <a:spcPts val="500"/>
              </a:spcAft>
            </a:pPr>
            <a:r>
              <a:rPr sz="1200" b="0">
                <a:solidFill>
                  <a:srgbClr val="6E7885"/>
                </a:solidFill>
                <a:latin typeface="Calibri"/>
              </a:rPr>
              <a:t>A tool whose model writes paragraphs cannot add this later — it would have to change what the model produces, then rebuild review, storage and edit tracking on top of that change.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640080"/>
            <a:ext cx="10911535" cy="219456"/>
          </a:xfrm>
          <a:prstGeom prst="rect">
            <a:avLst/>
          </a:prstGeom>
          <a:noFill/>
        </p:spPr>
        <p:txBody>
          <a:bodyPr wrap="square" anchor="t" lIns="0" rIns="0" tIns="0" bIns="0">
            <a:spAutoFit/>
          </a:bodyPr>
          <a:lstStyle/>
          <a:p>
            <a:pPr algn="l">
              <a:lnSpc>
                <a:spcPct val="115000"/>
              </a:lnSpc>
              <a:spcBef>
                <a:spcPts val="0"/>
              </a:spcBef>
              <a:spcAft>
                <a:spcPts val="500"/>
              </a:spcAft>
            </a:pPr>
            <a:r>
              <a:rPr sz="1050" b="1">
                <a:solidFill>
                  <a:srgbClr val="BE4A15"/>
                </a:solidFill>
                <a:latin typeface="Consolas"/>
              </a:rPr>
              <a:t>03</a:t>
            </a:r>
          </a:p>
        </p:txBody>
      </p:sp>
      <p:sp>
        <p:nvSpPr>
          <p:cNvPr id="4" name="TextBox 3"/>
          <p:cNvSpPr txBox="1"/>
          <p:nvPr/>
        </p:nvSpPr>
        <p:spPr>
          <a:xfrm>
            <a:off x="640080" y="914400"/>
            <a:ext cx="10911535" cy="548640"/>
          </a:xfrm>
          <a:prstGeom prst="rect">
            <a:avLst/>
          </a:prstGeom>
          <a:noFill/>
        </p:spPr>
        <p:txBody>
          <a:bodyPr wrap="square" anchor="t" lIns="0" rIns="0" tIns="0" bIns="0">
            <a:spAutoFit/>
          </a:bodyPr>
          <a:lstStyle/>
          <a:p>
            <a:pPr algn="l">
              <a:lnSpc>
                <a:spcPct val="95000"/>
              </a:lnSpc>
              <a:spcBef>
                <a:spcPts val="0"/>
              </a:spcBef>
              <a:spcAft>
                <a:spcPts val="500"/>
              </a:spcAft>
            </a:pPr>
            <a:r>
              <a:rPr sz="3100" b="1">
                <a:solidFill>
                  <a:srgbClr val="14181F"/>
                </a:solidFill>
                <a:latin typeface="Calibri"/>
              </a:rPr>
              <a:t>What practical problem it solves</a:t>
            </a:r>
          </a:p>
        </p:txBody>
      </p:sp>
      <p:sp>
        <p:nvSpPr>
          <p:cNvPr id="5" name="Rectangle 4"/>
          <p:cNvSpPr/>
          <p:nvPr/>
        </p:nvSpPr>
        <p:spPr>
          <a:xfrm>
            <a:off x="640080" y="6309360"/>
            <a:ext cx="10911535" cy="9525"/>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40080" y="6419088"/>
            <a:ext cx="6400800" cy="228600"/>
          </a:xfrm>
          <a:prstGeom prst="rect">
            <a:avLst/>
          </a:prstGeom>
          <a:noFill/>
        </p:spPr>
        <p:txBody>
          <a:bodyPr wrap="square" anchor="t" lIns="0" rIns="0" tIns="0" bIns="0">
            <a:spAutoFit/>
          </a:bodyPr>
          <a:lstStyle/>
          <a:p>
            <a:pPr algn="l">
              <a:lnSpc>
                <a:spcPct val="115000"/>
              </a:lnSpc>
              <a:spcBef>
                <a:spcPts val="0"/>
              </a:spcBef>
              <a:spcAft>
                <a:spcPts val="500"/>
              </a:spcAft>
            </a:pPr>
            <a:r>
              <a:rPr sz="900" b="0">
                <a:solidFill>
                  <a:srgbClr val="6E7885"/>
                </a:solidFill>
                <a:latin typeface="Consolas"/>
              </a:rPr>
              <a:t>Evergreen — keeping step-by-step guides true after the software changes</a:t>
            </a:r>
          </a:p>
        </p:txBody>
      </p:sp>
      <p:sp>
        <p:nvSpPr>
          <p:cNvPr id="7" name="TextBox 6"/>
          <p:cNvSpPr txBox="1"/>
          <p:nvPr/>
        </p:nvSpPr>
        <p:spPr>
          <a:xfrm>
            <a:off x="10637215" y="6419088"/>
            <a:ext cx="914400" cy="228600"/>
          </a:xfrm>
          <a:prstGeom prst="rect">
            <a:avLst/>
          </a:prstGeom>
          <a:noFill/>
        </p:spPr>
        <p:txBody>
          <a:bodyPr wrap="square" anchor="t" lIns="0" rIns="0" tIns="0" bIns="0">
            <a:spAutoFit/>
          </a:bodyPr>
          <a:lstStyle/>
          <a:p>
            <a:pPr algn="r">
              <a:lnSpc>
                <a:spcPct val="115000"/>
              </a:lnSpc>
              <a:spcBef>
                <a:spcPts val="0"/>
              </a:spcBef>
              <a:spcAft>
                <a:spcPts val="500"/>
              </a:spcAft>
            </a:pPr>
            <a:r>
              <a:rPr sz="900" b="0">
                <a:solidFill>
                  <a:srgbClr val="6E7885"/>
                </a:solidFill>
                <a:latin typeface="Consolas"/>
              </a:rPr>
              <a:t>04</a:t>
            </a:r>
          </a:p>
        </p:txBody>
      </p:sp>
      <p:sp>
        <p:nvSpPr>
          <p:cNvPr id="8" name="Rectangle 7"/>
          <p:cNvSpPr/>
          <p:nvPr/>
        </p:nvSpPr>
        <p:spPr>
          <a:xfrm>
            <a:off x="640080" y="1572768"/>
            <a:ext cx="10972800" cy="868680"/>
          </a:xfrm>
          <a:prstGeom prst="rect">
            <a:avLst/>
          </a:prstGeom>
          <a:solidFill>
            <a:srgbClr val="FFFFFF"/>
          </a:solidFill>
          <a:ln w="15875">
            <a:solidFill>
              <a:srgbClr val="1418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50976" y="1773936"/>
            <a:ext cx="10332720" cy="502920"/>
          </a:xfrm>
          <a:prstGeom prst="rect">
            <a:avLst/>
          </a:prstGeom>
          <a:noFill/>
        </p:spPr>
        <p:txBody>
          <a:bodyPr wrap="square" anchor="t" lIns="0" rIns="0" tIns="0" bIns="0">
            <a:spAutoFit/>
          </a:bodyPr>
          <a:lstStyle/>
          <a:p>
            <a:pPr algn="l">
              <a:lnSpc>
                <a:spcPct val="105000"/>
              </a:lnSpc>
              <a:spcBef>
                <a:spcPts val="0"/>
              </a:spcBef>
              <a:spcAft>
                <a:spcPts val="500"/>
              </a:spcAft>
            </a:pPr>
            <a:r>
              <a:rPr sz="1900" b="1">
                <a:solidFill>
                  <a:srgbClr val="14181F"/>
                </a:solidFill>
                <a:latin typeface="Calibri"/>
              </a:rPr>
              <a:t>Companies cannot tell which of their guides a software update has just made wrong.</a:t>
            </a:r>
          </a:p>
        </p:txBody>
      </p:sp>
      <p:sp>
        <p:nvSpPr>
          <p:cNvPr id="10" name="Rectangle 9"/>
          <p:cNvSpPr/>
          <p:nvPr/>
        </p:nvSpPr>
        <p:spPr>
          <a:xfrm>
            <a:off x="640080" y="2715768"/>
            <a:ext cx="3520440" cy="2148840"/>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40080" y="2715768"/>
            <a:ext cx="45720" cy="214884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898648"/>
            <a:ext cx="3044952" cy="292608"/>
          </a:xfrm>
          <a:prstGeom prst="rect">
            <a:avLst/>
          </a:prstGeom>
          <a:noFill/>
        </p:spPr>
        <p:txBody>
          <a:bodyPr wrap="square" anchor="t" lIns="0" rIns="0" tIns="0" bIns="0">
            <a:spAutoFit/>
          </a:bodyPr>
          <a:lstStyle/>
          <a:p>
            <a:pPr algn="l">
              <a:lnSpc>
                <a:spcPct val="100000"/>
              </a:lnSpc>
              <a:spcBef>
                <a:spcPts val="0"/>
              </a:spcBef>
              <a:spcAft>
                <a:spcPts val="500"/>
              </a:spcAft>
            </a:pPr>
            <a:r>
              <a:rPr sz="1500" b="1">
                <a:solidFill>
                  <a:srgbClr val="14181F"/>
                </a:solidFill>
                <a:latin typeface="Calibri"/>
              </a:rPr>
              <a:t>Why it happens</a:t>
            </a:r>
          </a:p>
        </p:txBody>
      </p:sp>
      <p:sp>
        <p:nvSpPr>
          <p:cNvPr id="13" name="TextBox 12"/>
          <p:cNvSpPr txBox="1"/>
          <p:nvPr/>
        </p:nvSpPr>
        <p:spPr>
          <a:xfrm>
            <a:off x="877824" y="3300984"/>
            <a:ext cx="3044952" cy="1417320"/>
          </a:xfrm>
          <a:prstGeom prst="rect">
            <a:avLst/>
          </a:prstGeom>
          <a:noFill/>
        </p:spPr>
        <p:txBody>
          <a:bodyPr wrap="square" anchor="t" lIns="0" rIns="0" tIns="0" bIns="0">
            <a:spAutoFit/>
          </a:bodyPr>
          <a:lstStyle/>
          <a:p>
            <a:pPr algn="l">
              <a:lnSpc>
                <a:spcPct val="120000"/>
              </a:lnSpc>
              <a:spcBef>
                <a:spcPts val="0"/>
              </a:spcBef>
              <a:spcAft>
                <a:spcPts val="500"/>
              </a:spcAft>
            </a:pPr>
            <a:r>
              <a:rPr sz="1150" b="0">
                <a:solidFill>
                  <a:srgbClr val="454E5C"/>
                </a:solidFill>
                <a:latin typeface="Calibri"/>
              </a:rPr>
              <a:t>The people who change the software and the people who write the guides are different people, in different companies, with no way to reach each other.
A release note says "improved expense workflow". It does not say which button was renamed. And the vendor does not know your guide exists.</a:t>
            </a:r>
          </a:p>
        </p:txBody>
      </p:sp>
      <p:sp>
        <p:nvSpPr>
          <p:cNvPr id="14" name="Rectangle 13"/>
          <p:cNvSpPr/>
          <p:nvPr/>
        </p:nvSpPr>
        <p:spPr>
          <a:xfrm>
            <a:off x="4370832" y="2715768"/>
            <a:ext cx="3520440" cy="2148840"/>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70832" y="2715768"/>
            <a:ext cx="45720" cy="2148840"/>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08576" y="2898648"/>
            <a:ext cx="3044952" cy="292608"/>
          </a:xfrm>
          <a:prstGeom prst="rect">
            <a:avLst/>
          </a:prstGeom>
          <a:noFill/>
        </p:spPr>
        <p:txBody>
          <a:bodyPr wrap="square" anchor="t" lIns="0" rIns="0" tIns="0" bIns="0">
            <a:spAutoFit/>
          </a:bodyPr>
          <a:lstStyle/>
          <a:p>
            <a:pPr algn="l">
              <a:lnSpc>
                <a:spcPct val="100000"/>
              </a:lnSpc>
              <a:spcBef>
                <a:spcPts val="0"/>
              </a:spcBef>
              <a:spcAft>
                <a:spcPts val="500"/>
              </a:spcAft>
            </a:pPr>
            <a:r>
              <a:rPr sz="1500" b="1">
                <a:solidFill>
                  <a:srgbClr val="14181F"/>
                </a:solidFill>
                <a:latin typeface="Calibri"/>
              </a:rPr>
              <a:t>What it costs today</a:t>
            </a:r>
          </a:p>
        </p:txBody>
      </p:sp>
      <p:sp>
        <p:nvSpPr>
          <p:cNvPr id="17" name="TextBox 16"/>
          <p:cNvSpPr txBox="1"/>
          <p:nvPr/>
        </p:nvSpPr>
        <p:spPr>
          <a:xfrm>
            <a:off x="4608576" y="3300984"/>
            <a:ext cx="3044952" cy="1417320"/>
          </a:xfrm>
          <a:prstGeom prst="rect">
            <a:avLst/>
          </a:prstGeom>
          <a:noFill/>
        </p:spPr>
        <p:txBody>
          <a:bodyPr wrap="square" anchor="t" lIns="0" rIns="0" tIns="0" bIns="0">
            <a:spAutoFit/>
          </a:bodyPr>
          <a:lstStyle/>
          <a:p>
            <a:pPr algn="l">
              <a:lnSpc>
                <a:spcPct val="120000"/>
              </a:lnSpc>
              <a:spcBef>
                <a:spcPts val="0"/>
              </a:spcBef>
              <a:spcAft>
                <a:spcPts val="500"/>
              </a:spcAft>
            </a:pPr>
            <a:r>
              <a:rPr sz="1150" b="0">
                <a:solidFill>
                  <a:srgbClr val="454E5C"/>
                </a:solidFill>
                <a:latin typeface="Calibri"/>
              </a:rPr>
              <a:t>Someone opens the guides one by one, follows each, and looks for the screenshot that no longer matches. Slow, dull, and easy to get wrong.
More often nobody does it at all — and the guide is found to be wrong when a new employee follows it and gets stuck.</a:t>
            </a:r>
          </a:p>
        </p:txBody>
      </p:sp>
      <p:sp>
        <p:nvSpPr>
          <p:cNvPr id="18" name="Rectangle 17"/>
          <p:cNvSpPr/>
          <p:nvPr/>
        </p:nvSpPr>
        <p:spPr>
          <a:xfrm>
            <a:off x="8101584" y="2715768"/>
            <a:ext cx="3520440" cy="2148840"/>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101584" y="2715768"/>
            <a:ext cx="45720" cy="21488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339328" y="2898648"/>
            <a:ext cx="3044952" cy="292608"/>
          </a:xfrm>
          <a:prstGeom prst="rect">
            <a:avLst/>
          </a:prstGeom>
          <a:noFill/>
        </p:spPr>
        <p:txBody>
          <a:bodyPr wrap="square" anchor="t" lIns="0" rIns="0" tIns="0" bIns="0">
            <a:spAutoFit/>
          </a:bodyPr>
          <a:lstStyle/>
          <a:p>
            <a:pPr algn="l">
              <a:lnSpc>
                <a:spcPct val="100000"/>
              </a:lnSpc>
              <a:spcBef>
                <a:spcPts val="0"/>
              </a:spcBef>
              <a:spcAft>
                <a:spcPts val="500"/>
              </a:spcAft>
            </a:pPr>
            <a:r>
              <a:rPr sz="1500" b="1">
                <a:solidFill>
                  <a:srgbClr val="14181F"/>
                </a:solidFill>
                <a:latin typeface="Calibri"/>
              </a:rPr>
              <a:t>Where the gap is</a:t>
            </a:r>
          </a:p>
        </p:txBody>
      </p:sp>
      <p:sp>
        <p:nvSpPr>
          <p:cNvPr id="21" name="TextBox 20"/>
          <p:cNvSpPr txBox="1"/>
          <p:nvPr/>
        </p:nvSpPr>
        <p:spPr>
          <a:xfrm>
            <a:off x="8339328" y="3300984"/>
            <a:ext cx="3044952" cy="1417320"/>
          </a:xfrm>
          <a:prstGeom prst="rect">
            <a:avLst/>
          </a:prstGeom>
          <a:noFill/>
        </p:spPr>
        <p:txBody>
          <a:bodyPr wrap="square" anchor="t" lIns="0" rIns="0" tIns="0" bIns="0">
            <a:spAutoFit/>
          </a:bodyPr>
          <a:lstStyle/>
          <a:p>
            <a:pPr algn="l">
              <a:lnSpc>
                <a:spcPct val="120000"/>
              </a:lnSpc>
              <a:spcBef>
                <a:spcPts val="0"/>
              </a:spcBef>
              <a:spcAft>
                <a:spcPts val="500"/>
              </a:spcAft>
            </a:pPr>
            <a:r>
              <a:rPr sz="1150" b="0">
                <a:solidFill>
                  <a:srgbClr val="454E5C"/>
                </a:solidFill>
                <a:latin typeface="Calibri"/>
              </a:rPr>
              <a:t>Several products already turn a recording into a guide, and some do it very well.
Almost none answer the question that comes months later: what changed since last time? That is the part nobody has built the foundations for.</a:t>
            </a:r>
          </a:p>
        </p:txBody>
      </p:sp>
      <p:sp>
        <p:nvSpPr>
          <p:cNvPr id="22" name="TextBox 21"/>
          <p:cNvSpPr txBox="1"/>
          <p:nvPr/>
        </p:nvSpPr>
        <p:spPr>
          <a:xfrm>
            <a:off x="640080" y="5093208"/>
            <a:ext cx="10911535" cy="457200"/>
          </a:xfrm>
          <a:prstGeom prst="rect">
            <a:avLst/>
          </a:prstGeom>
          <a:noFill/>
        </p:spPr>
        <p:txBody>
          <a:bodyPr wrap="square" anchor="t" lIns="0" rIns="0" tIns="0" bIns="0">
            <a:spAutoFit/>
          </a:bodyPr>
          <a:lstStyle/>
          <a:p>
            <a:pPr algn="l">
              <a:lnSpc>
                <a:spcPct val="125000"/>
              </a:lnSpc>
              <a:spcBef>
                <a:spcPts val="0"/>
              </a:spcBef>
              <a:spcAft>
                <a:spcPts val="500"/>
              </a:spcAft>
            </a:pPr>
            <a:r>
              <a:rPr sz="1600" b="1">
                <a:solidFill>
                  <a:srgbClr val="14181F"/>
                </a:solidFill>
                <a:latin typeface="Calibri"/>
              </a:rPr>
              <a:t>The expensive part was never writing the guide. It is keeping it true.</a:t>
            </a:r>
          </a:p>
          <a:p>
            <a:pPr algn="l">
              <a:lnSpc>
                <a:spcPct val="125000"/>
              </a:lnSpc>
              <a:spcBef>
                <a:spcPts val="600"/>
              </a:spcBef>
              <a:spcAft>
                <a:spcPts val="500"/>
              </a:spcAft>
            </a:pPr>
            <a:r>
              <a:rPr sz="1250" b="0">
                <a:solidFill>
                  <a:srgbClr val="6E7885"/>
                </a:solidFill>
                <a:latin typeface="Calibri"/>
              </a:rPr>
              <a:t>Nobody minds writing a guide once. What costs money is an employee following a step that no longer exists. The guide is not the deliverable — the guide being correct today is the deliverable.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640080"/>
            <a:ext cx="10911535" cy="219456"/>
          </a:xfrm>
          <a:prstGeom prst="rect">
            <a:avLst/>
          </a:prstGeom>
          <a:noFill/>
        </p:spPr>
        <p:txBody>
          <a:bodyPr wrap="square" anchor="t" lIns="0" rIns="0" tIns="0" bIns="0">
            <a:spAutoFit/>
          </a:bodyPr>
          <a:lstStyle/>
          <a:p>
            <a:pPr algn="l">
              <a:lnSpc>
                <a:spcPct val="115000"/>
              </a:lnSpc>
              <a:spcBef>
                <a:spcPts val="0"/>
              </a:spcBef>
              <a:spcAft>
                <a:spcPts val="500"/>
              </a:spcAft>
            </a:pPr>
            <a:r>
              <a:rPr sz="1050" b="1">
                <a:solidFill>
                  <a:srgbClr val="BE4A15"/>
                </a:solidFill>
                <a:latin typeface="Consolas"/>
              </a:rPr>
              <a:t>04 · THE SHAPE OF THE SYSTEM</a:t>
            </a:r>
          </a:p>
        </p:txBody>
      </p:sp>
      <p:sp>
        <p:nvSpPr>
          <p:cNvPr id="4" name="TextBox 3"/>
          <p:cNvSpPr txBox="1"/>
          <p:nvPr/>
        </p:nvSpPr>
        <p:spPr>
          <a:xfrm>
            <a:off x="640080" y="914400"/>
            <a:ext cx="10911535" cy="548640"/>
          </a:xfrm>
          <a:prstGeom prst="rect">
            <a:avLst/>
          </a:prstGeom>
          <a:noFill/>
        </p:spPr>
        <p:txBody>
          <a:bodyPr wrap="square" anchor="t" lIns="0" rIns="0" tIns="0" bIns="0">
            <a:spAutoFit/>
          </a:bodyPr>
          <a:lstStyle/>
          <a:p>
            <a:pPr algn="l">
              <a:lnSpc>
                <a:spcPct val="95000"/>
              </a:lnSpc>
              <a:spcBef>
                <a:spcPts val="0"/>
              </a:spcBef>
              <a:spcAft>
                <a:spcPts val="500"/>
              </a:spcAft>
            </a:pPr>
            <a:r>
              <a:rPr sz="3100" b="1">
                <a:solidFill>
                  <a:srgbClr val="14181F"/>
                </a:solidFill>
                <a:latin typeface="Calibri"/>
              </a:rPr>
              <a:t>Architecture</a:t>
            </a:r>
          </a:p>
        </p:txBody>
      </p:sp>
      <p:sp>
        <p:nvSpPr>
          <p:cNvPr id="5" name="Rectangle 4"/>
          <p:cNvSpPr/>
          <p:nvPr/>
        </p:nvSpPr>
        <p:spPr>
          <a:xfrm>
            <a:off x="640080" y="6309360"/>
            <a:ext cx="10911535" cy="9525"/>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40080" y="6419088"/>
            <a:ext cx="6400800" cy="228600"/>
          </a:xfrm>
          <a:prstGeom prst="rect">
            <a:avLst/>
          </a:prstGeom>
          <a:noFill/>
        </p:spPr>
        <p:txBody>
          <a:bodyPr wrap="square" anchor="t" lIns="0" rIns="0" tIns="0" bIns="0">
            <a:spAutoFit/>
          </a:bodyPr>
          <a:lstStyle/>
          <a:p>
            <a:pPr algn="l">
              <a:lnSpc>
                <a:spcPct val="115000"/>
              </a:lnSpc>
              <a:spcBef>
                <a:spcPts val="0"/>
              </a:spcBef>
              <a:spcAft>
                <a:spcPts val="500"/>
              </a:spcAft>
            </a:pPr>
            <a:r>
              <a:rPr sz="900" b="0">
                <a:solidFill>
                  <a:srgbClr val="6E7885"/>
                </a:solidFill>
                <a:latin typeface="Consolas"/>
              </a:rPr>
              <a:t>Evergreen — keeping step-by-step guides true after the software changes</a:t>
            </a:r>
          </a:p>
        </p:txBody>
      </p:sp>
      <p:sp>
        <p:nvSpPr>
          <p:cNvPr id="7" name="TextBox 6"/>
          <p:cNvSpPr txBox="1"/>
          <p:nvPr/>
        </p:nvSpPr>
        <p:spPr>
          <a:xfrm>
            <a:off x="10637215" y="6419088"/>
            <a:ext cx="914400" cy="228600"/>
          </a:xfrm>
          <a:prstGeom prst="rect">
            <a:avLst/>
          </a:prstGeom>
          <a:noFill/>
        </p:spPr>
        <p:txBody>
          <a:bodyPr wrap="square" anchor="t" lIns="0" rIns="0" tIns="0" bIns="0">
            <a:spAutoFit/>
          </a:bodyPr>
          <a:lstStyle/>
          <a:p>
            <a:pPr algn="r">
              <a:lnSpc>
                <a:spcPct val="115000"/>
              </a:lnSpc>
              <a:spcBef>
                <a:spcPts val="0"/>
              </a:spcBef>
              <a:spcAft>
                <a:spcPts val="500"/>
              </a:spcAft>
            </a:pPr>
            <a:r>
              <a:rPr sz="900" b="0">
                <a:solidFill>
                  <a:srgbClr val="6E7885"/>
                </a:solidFill>
                <a:latin typeface="Consolas"/>
              </a:rPr>
              <a:t>05</a:t>
            </a:r>
          </a:p>
        </p:txBody>
      </p:sp>
      <p:sp>
        <p:nvSpPr>
          <p:cNvPr id="8" name="Rectangle 7"/>
          <p:cNvSpPr/>
          <p:nvPr/>
        </p:nvSpPr>
        <p:spPr>
          <a:xfrm>
            <a:off x="640080" y="1572768"/>
            <a:ext cx="10911535" cy="512064"/>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8" y="1618488"/>
            <a:ext cx="1463040" cy="182880"/>
          </a:xfrm>
          <a:prstGeom prst="rect">
            <a:avLst/>
          </a:prstGeom>
          <a:noFill/>
        </p:spPr>
        <p:txBody>
          <a:bodyPr wrap="square" anchor="t" lIns="0" rIns="0" tIns="0" bIns="0">
            <a:spAutoFit/>
          </a:bodyPr>
          <a:lstStyle/>
          <a:p>
            <a:pPr algn="l">
              <a:lnSpc>
                <a:spcPct val="115000"/>
              </a:lnSpc>
              <a:spcBef>
                <a:spcPts val="0"/>
              </a:spcBef>
              <a:spcAft>
                <a:spcPts val="500"/>
              </a:spcAft>
            </a:pPr>
            <a:r>
              <a:rPr sz="850" b="1">
                <a:solidFill>
                  <a:srgbClr val="6E7885"/>
                </a:solidFill>
                <a:latin typeface="Consolas"/>
              </a:rPr>
              <a:t>USED THROUGH</a:t>
            </a:r>
          </a:p>
        </p:txBody>
      </p:sp>
      <p:sp>
        <p:nvSpPr>
          <p:cNvPr id="10" name="TextBox 9"/>
          <p:cNvSpPr txBox="1"/>
          <p:nvPr/>
        </p:nvSpPr>
        <p:spPr>
          <a:xfrm>
            <a:off x="2331720" y="1728216"/>
            <a:ext cx="3017520" cy="237744"/>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14181F"/>
                </a:solidFill>
                <a:latin typeface="Calibri"/>
              </a:rPr>
              <a:t>Web app — editor and per-step review</a:t>
            </a:r>
          </a:p>
        </p:txBody>
      </p:sp>
      <p:sp>
        <p:nvSpPr>
          <p:cNvPr id="11" name="TextBox 10"/>
          <p:cNvSpPr txBox="1"/>
          <p:nvPr/>
        </p:nvSpPr>
        <p:spPr>
          <a:xfrm>
            <a:off x="5458968" y="1728216"/>
            <a:ext cx="3017520" cy="237744"/>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14181F"/>
                </a:solidFill>
                <a:latin typeface="Calibri"/>
              </a:rPr>
              <a:t>REST API</a:t>
            </a:r>
          </a:p>
        </p:txBody>
      </p:sp>
      <p:sp>
        <p:nvSpPr>
          <p:cNvPr id="12" name="TextBox 11"/>
          <p:cNvSpPr txBox="1"/>
          <p:nvPr/>
        </p:nvSpPr>
        <p:spPr>
          <a:xfrm>
            <a:off x="8586216" y="1728216"/>
            <a:ext cx="3017520" cy="237744"/>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14181F"/>
                </a:solidFill>
                <a:latin typeface="Calibri"/>
              </a:rPr>
              <a:t>Command line — every stage runnable on its own</a:t>
            </a:r>
          </a:p>
        </p:txBody>
      </p:sp>
      <p:sp>
        <p:nvSpPr>
          <p:cNvPr id="13" name="Rectangle 12"/>
          <p:cNvSpPr/>
          <p:nvPr/>
        </p:nvSpPr>
        <p:spPr>
          <a:xfrm>
            <a:off x="640080" y="2286000"/>
            <a:ext cx="1875068" cy="2084831"/>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04672" y="2432304"/>
            <a:ext cx="1545884" cy="182880"/>
          </a:xfrm>
          <a:prstGeom prst="rect">
            <a:avLst/>
          </a:prstGeom>
          <a:noFill/>
        </p:spPr>
        <p:txBody>
          <a:bodyPr wrap="square" anchor="t" lIns="0" rIns="0" tIns="0" bIns="0">
            <a:spAutoFit/>
          </a:bodyPr>
          <a:lstStyle/>
          <a:p>
            <a:pPr algn="l">
              <a:lnSpc>
                <a:spcPct val="115000"/>
              </a:lnSpc>
              <a:spcBef>
                <a:spcPts val="0"/>
              </a:spcBef>
              <a:spcAft>
                <a:spcPts val="500"/>
              </a:spcAft>
            </a:pPr>
            <a:r>
              <a:rPr sz="850" b="1">
                <a:solidFill>
                  <a:srgbClr val="6E7885"/>
                </a:solidFill>
                <a:latin typeface="Consolas"/>
              </a:rPr>
              <a:t>A RECORDING</a:t>
            </a:r>
          </a:p>
        </p:txBody>
      </p:sp>
      <p:sp>
        <p:nvSpPr>
          <p:cNvPr id="15" name="TextBox 14"/>
          <p:cNvSpPr txBox="1"/>
          <p:nvPr/>
        </p:nvSpPr>
        <p:spPr>
          <a:xfrm>
            <a:off x="804672" y="2688336"/>
            <a:ext cx="1545884" cy="566928"/>
          </a:xfrm>
          <a:prstGeom prst="rect">
            <a:avLst/>
          </a:prstGeom>
          <a:noFill/>
        </p:spPr>
        <p:txBody>
          <a:bodyPr wrap="square" anchor="t" lIns="0" rIns="0" tIns="0" bIns="0">
            <a:spAutoFit/>
          </a:bodyPr>
          <a:lstStyle/>
          <a:p>
            <a:pPr algn="l">
              <a:lnSpc>
                <a:spcPct val="105000"/>
              </a:lnSpc>
              <a:spcBef>
                <a:spcPts val="0"/>
              </a:spcBef>
              <a:spcAft>
                <a:spcPts val="500"/>
              </a:spcAft>
            </a:pPr>
            <a:r>
              <a:rPr sz="1350" b="1">
                <a:solidFill>
                  <a:srgbClr val="14181F"/>
                </a:solidFill>
                <a:latin typeface="Calibri"/>
              </a:rPr>
              <a:t>Screen recording
+ narration, optional</a:t>
            </a:r>
          </a:p>
        </p:txBody>
      </p:sp>
      <p:sp>
        <p:nvSpPr>
          <p:cNvPr id="16" name="TextBox 15"/>
          <p:cNvSpPr txBox="1"/>
          <p:nvPr/>
        </p:nvSpPr>
        <p:spPr>
          <a:xfrm>
            <a:off x="804672" y="3364992"/>
            <a:ext cx="1545884" cy="914400"/>
          </a:xfrm>
          <a:prstGeom prst="rect">
            <a:avLst/>
          </a:prstGeom>
          <a:noFill/>
        </p:spPr>
        <p:txBody>
          <a:bodyPr wrap="square" anchor="t" lIns="0" rIns="0" tIns="0" bIns="0">
            <a:spAutoFit/>
          </a:bodyPr>
          <a:lstStyle/>
          <a:p>
            <a:pPr algn="l">
              <a:lnSpc>
                <a:spcPct val="120000"/>
              </a:lnSpc>
              <a:spcBef>
                <a:spcPts val="0"/>
              </a:spcBef>
              <a:spcAft>
                <a:spcPts val="500"/>
              </a:spcAft>
            </a:pPr>
            <a:r>
              <a:rPr sz="950" b="0">
                <a:solidFill>
                  <a:srgbClr val="454E5C"/>
                </a:solidFill>
                <a:latin typeface="Calibri"/>
              </a:rPr>
              <a:t>The only inputs. No access to code,
networks or databases.</a:t>
            </a:r>
          </a:p>
        </p:txBody>
      </p:sp>
      <p:sp>
        <p:nvSpPr>
          <p:cNvPr id="17" name="Right Arrow 16"/>
          <p:cNvSpPr/>
          <p:nvPr/>
        </p:nvSpPr>
        <p:spPr>
          <a:xfrm>
            <a:off x="2597444" y="3127248"/>
            <a:ext cx="219456" cy="182880"/>
          </a:xfrm>
          <a:prstGeom prst="rightArrow">
            <a:avLst/>
          </a:prstGeom>
          <a:solidFill>
            <a:srgbClr val="A9B3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899196" y="2286000"/>
            <a:ext cx="1875068" cy="2084831"/>
          </a:xfrm>
          <a:prstGeom prst="rect">
            <a:avLst/>
          </a:prstGeom>
          <a:solidFill>
            <a:srgbClr val="E2F1EE"/>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063788" y="2432304"/>
            <a:ext cx="1545884" cy="182880"/>
          </a:xfrm>
          <a:prstGeom prst="rect">
            <a:avLst/>
          </a:prstGeom>
          <a:noFill/>
        </p:spPr>
        <p:txBody>
          <a:bodyPr wrap="square" anchor="t" lIns="0" rIns="0" tIns="0" bIns="0">
            <a:spAutoFit/>
          </a:bodyPr>
          <a:lstStyle/>
          <a:p>
            <a:pPr algn="l">
              <a:lnSpc>
                <a:spcPct val="115000"/>
              </a:lnSpc>
              <a:spcBef>
                <a:spcPts val="0"/>
              </a:spcBef>
              <a:spcAft>
                <a:spcPts val="500"/>
              </a:spcAft>
            </a:pPr>
            <a:r>
              <a:rPr sz="850" b="1">
                <a:solidFill>
                  <a:srgbClr val="0F766E"/>
                </a:solidFill>
                <a:latin typeface="Consolas"/>
              </a:rPr>
              <a:t>WATCH IT</a:t>
            </a:r>
          </a:p>
        </p:txBody>
      </p:sp>
      <p:sp>
        <p:nvSpPr>
          <p:cNvPr id="20" name="TextBox 19"/>
          <p:cNvSpPr txBox="1"/>
          <p:nvPr/>
        </p:nvSpPr>
        <p:spPr>
          <a:xfrm>
            <a:off x="3063788" y="2688336"/>
            <a:ext cx="1545884" cy="566928"/>
          </a:xfrm>
          <a:prstGeom prst="rect">
            <a:avLst/>
          </a:prstGeom>
          <a:noFill/>
        </p:spPr>
        <p:txBody>
          <a:bodyPr wrap="square" anchor="t" lIns="0" rIns="0" tIns="0" bIns="0">
            <a:spAutoFit/>
          </a:bodyPr>
          <a:lstStyle/>
          <a:p>
            <a:pPr algn="l">
              <a:lnSpc>
                <a:spcPct val="105000"/>
              </a:lnSpc>
              <a:spcBef>
                <a:spcPts val="0"/>
              </a:spcBef>
              <a:spcAft>
                <a:spcPts val="500"/>
              </a:spcAft>
            </a:pPr>
            <a:r>
              <a:rPr sz="1350" b="1">
                <a:solidFill>
                  <a:srgbClr val="14181F"/>
                </a:solidFill>
                <a:latin typeface="Calibri"/>
              </a:rPr>
              <a:t>Find where the screen
actually changed</a:t>
            </a:r>
          </a:p>
        </p:txBody>
      </p:sp>
      <p:sp>
        <p:nvSpPr>
          <p:cNvPr id="21" name="TextBox 20"/>
          <p:cNvSpPr txBox="1"/>
          <p:nvPr/>
        </p:nvSpPr>
        <p:spPr>
          <a:xfrm>
            <a:off x="3063788" y="3364992"/>
            <a:ext cx="1545884" cy="914400"/>
          </a:xfrm>
          <a:prstGeom prst="rect">
            <a:avLst/>
          </a:prstGeom>
          <a:noFill/>
        </p:spPr>
        <p:txBody>
          <a:bodyPr wrap="square" anchor="t" lIns="0" rIns="0" tIns="0" bIns="0">
            <a:spAutoFit/>
          </a:bodyPr>
          <a:lstStyle/>
          <a:p>
            <a:pPr algn="l">
              <a:lnSpc>
                <a:spcPct val="120000"/>
              </a:lnSpc>
              <a:spcBef>
                <a:spcPts val="0"/>
              </a:spcBef>
              <a:spcAft>
                <a:spcPts val="500"/>
              </a:spcAft>
            </a:pPr>
            <a:r>
              <a:rPr sz="950" b="0">
                <a:solidFill>
                  <a:srgbClr val="454E5C"/>
                </a:solidFill>
                <a:latin typeface="Calibri"/>
              </a:rPr>
              <a:t>Sample the video, compare each frame
to the last, wait for the screen to
settle, then keep only the few frames
that matter.</a:t>
            </a:r>
          </a:p>
        </p:txBody>
      </p:sp>
      <p:sp>
        <p:nvSpPr>
          <p:cNvPr id="22" name="Right Arrow 21"/>
          <p:cNvSpPr/>
          <p:nvPr/>
        </p:nvSpPr>
        <p:spPr>
          <a:xfrm>
            <a:off x="4856561" y="3127248"/>
            <a:ext cx="219456" cy="182880"/>
          </a:xfrm>
          <a:prstGeom prst="rightArrow">
            <a:avLst/>
          </a:prstGeom>
          <a:solidFill>
            <a:srgbClr val="A9B3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5158313" y="2286000"/>
            <a:ext cx="1875068" cy="2084831"/>
          </a:xfrm>
          <a:prstGeom prst="rect">
            <a:avLst/>
          </a:prstGeom>
          <a:solidFill>
            <a:srgbClr val="FBECE4"/>
          </a:solidFill>
          <a:ln w="12700">
            <a:solidFill>
              <a:srgbClr val="BE4A1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322905" y="2432304"/>
            <a:ext cx="1545884" cy="182880"/>
          </a:xfrm>
          <a:prstGeom prst="rect">
            <a:avLst/>
          </a:prstGeom>
          <a:noFill/>
        </p:spPr>
        <p:txBody>
          <a:bodyPr wrap="square" anchor="t" lIns="0" rIns="0" tIns="0" bIns="0">
            <a:spAutoFit/>
          </a:bodyPr>
          <a:lstStyle/>
          <a:p>
            <a:pPr algn="l">
              <a:lnSpc>
                <a:spcPct val="115000"/>
              </a:lnSpc>
              <a:spcBef>
                <a:spcPts val="0"/>
              </a:spcBef>
              <a:spcAft>
                <a:spcPts val="500"/>
              </a:spcAft>
            </a:pPr>
            <a:r>
              <a:rPr sz="850" b="1">
                <a:solidFill>
                  <a:srgbClr val="BE4A15"/>
                </a:solidFill>
                <a:latin typeface="Consolas"/>
              </a:rPr>
              <a:t>READ IT</a:t>
            </a:r>
          </a:p>
        </p:txBody>
      </p:sp>
      <p:sp>
        <p:nvSpPr>
          <p:cNvPr id="25" name="TextBox 24"/>
          <p:cNvSpPr txBox="1"/>
          <p:nvPr/>
        </p:nvSpPr>
        <p:spPr>
          <a:xfrm>
            <a:off x="5322905" y="2688336"/>
            <a:ext cx="1545884" cy="566928"/>
          </a:xfrm>
          <a:prstGeom prst="rect">
            <a:avLst/>
          </a:prstGeom>
          <a:noFill/>
        </p:spPr>
        <p:txBody>
          <a:bodyPr wrap="square" anchor="t" lIns="0" rIns="0" tIns="0" bIns="0">
            <a:spAutoFit/>
          </a:bodyPr>
          <a:lstStyle/>
          <a:p>
            <a:pPr algn="l">
              <a:lnSpc>
                <a:spcPct val="105000"/>
              </a:lnSpc>
              <a:spcBef>
                <a:spcPts val="0"/>
              </a:spcBef>
              <a:spcAft>
                <a:spcPts val="500"/>
              </a:spcAft>
            </a:pPr>
            <a:r>
              <a:rPr sz="1350" b="1">
                <a:solidFill>
                  <a:srgbClr val="14181F"/>
                </a:solidFill>
                <a:latin typeface="Calibri"/>
              </a:rPr>
              <a:t>Turn those screens
into steps</a:t>
            </a:r>
          </a:p>
        </p:txBody>
      </p:sp>
      <p:sp>
        <p:nvSpPr>
          <p:cNvPr id="26" name="TextBox 25"/>
          <p:cNvSpPr txBox="1"/>
          <p:nvPr/>
        </p:nvSpPr>
        <p:spPr>
          <a:xfrm>
            <a:off x="5322905" y="3364992"/>
            <a:ext cx="1545884" cy="914400"/>
          </a:xfrm>
          <a:prstGeom prst="rect">
            <a:avLst/>
          </a:prstGeom>
          <a:noFill/>
        </p:spPr>
        <p:txBody>
          <a:bodyPr wrap="square" anchor="t" lIns="0" rIns="0" tIns="0" bIns="0">
            <a:spAutoFit/>
          </a:bodyPr>
          <a:lstStyle/>
          <a:p>
            <a:pPr algn="l">
              <a:lnSpc>
                <a:spcPct val="120000"/>
              </a:lnSpc>
              <a:spcBef>
                <a:spcPts val="0"/>
              </a:spcBef>
              <a:spcAft>
                <a:spcPts val="500"/>
              </a:spcAft>
            </a:pPr>
            <a:r>
              <a:rPr sz="950" b="0">
                <a:solidFill>
                  <a:srgbClr val="454E5C"/>
                </a:solidFill>
                <a:latin typeface="Calibri"/>
              </a:rPr>
              <a:t>Is this a real step or just scrolling?
Then read the screen and fill in
the fields.</a:t>
            </a:r>
          </a:p>
        </p:txBody>
      </p:sp>
      <p:sp>
        <p:nvSpPr>
          <p:cNvPr id="27" name="Right Arrow 26"/>
          <p:cNvSpPr/>
          <p:nvPr/>
        </p:nvSpPr>
        <p:spPr>
          <a:xfrm>
            <a:off x="7115677" y="3127248"/>
            <a:ext cx="219456" cy="182880"/>
          </a:xfrm>
          <a:prstGeom prst="rightArrow">
            <a:avLst/>
          </a:prstGeom>
          <a:solidFill>
            <a:srgbClr val="A9B3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7417429" y="2286000"/>
            <a:ext cx="1875068" cy="2084831"/>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582021" y="2432304"/>
            <a:ext cx="1545884" cy="182880"/>
          </a:xfrm>
          <a:prstGeom prst="rect">
            <a:avLst/>
          </a:prstGeom>
          <a:noFill/>
        </p:spPr>
        <p:txBody>
          <a:bodyPr wrap="square" anchor="t" lIns="0" rIns="0" tIns="0" bIns="0">
            <a:spAutoFit/>
          </a:bodyPr>
          <a:lstStyle/>
          <a:p>
            <a:pPr algn="l">
              <a:lnSpc>
                <a:spcPct val="115000"/>
              </a:lnSpc>
              <a:spcBef>
                <a:spcPts val="0"/>
              </a:spcBef>
              <a:spcAft>
                <a:spcPts val="500"/>
              </a:spcAft>
            </a:pPr>
            <a:r>
              <a:rPr sz="850" b="1">
                <a:solidFill>
                  <a:srgbClr val="6E7885"/>
                </a:solidFill>
                <a:latin typeface="Consolas"/>
              </a:rPr>
              <a:t>THE GUIDE</a:t>
            </a:r>
          </a:p>
        </p:txBody>
      </p:sp>
      <p:sp>
        <p:nvSpPr>
          <p:cNvPr id="30" name="TextBox 29"/>
          <p:cNvSpPr txBox="1"/>
          <p:nvPr/>
        </p:nvSpPr>
        <p:spPr>
          <a:xfrm>
            <a:off x="7582021" y="2688336"/>
            <a:ext cx="1545884" cy="566928"/>
          </a:xfrm>
          <a:prstGeom prst="rect">
            <a:avLst/>
          </a:prstGeom>
          <a:noFill/>
        </p:spPr>
        <p:txBody>
          <a:bodyPr wrap="square" anchor="t" lIns="0" rIns="0" tIns="0" bIns="0">
            <a:spAutoFit/>
          </a:bodyPr>
          <a:lstStyle/>
          <a:p>
            <a:pPr algn="l">
              <a:lnSpc>
                <a:spcPct val="105000"/>
              </a:lnSpc>
              <a:spcBef>
                <a:spcPts val="0"/>
              </a:spcBef>
              <a:spcAft>
                <a:spcPts val="500"/>
              </a:spcAft>
            </a:pPr>
            <a:r>
              <a:rPr sz="1350" b="1">
                <a:solidFill>
                  <a:srgbClr val="14181F"/>
                </a:solidFill>
                <a:latin typeface="Calibri"/>
              </a:rPr>
              <a:t>A structured SOP</a:t>
            </a:r>
          </a:p>
        </p:txBody>
      </p:sp>
      <p:sp>
        <p:nvSpPr>
          <p:cNvPr id="31" name="TextBox 30"/>
          <p:cNvSpPr txBox="1"/>
          <p:nvPr/>
        </p:nvSpPr>
        <p:spPr>
          <a:xfrm>
            <a:off x="7582021" y="3364992"/>
            <a:ext cx="1545884" cy="914400"/>
          </a:xfrm>
          <a:prstGeom prst="rect">
            <a:avLst/>
          </a:prstGeom>
          <a:noFill/>
        </p:spPr>
        <p:txBody>
          <a:bodyPr wrap="square" anchor="t" lIns="0" rIns="0" tIns="0" bIns="0">
            <a:spAutoFit/>
          </a:bodyPr>
          <a:lstStyle/>
          <a:p>
            <a:pPr algn="l">
              <a:lnSpc>
                <a:spcPct val="120000"/>
              </a:lnSpc>
              <a:spcBef>
                <a:spcPts val="0"/>
              </a:spcBef>
              <a:spcAft>
                <a:spcPts val="500"/>
              </a:spcAft>
            </a:pPr>
            <a:r>
              <a:rPr sz="950" b="0">
                <a:solidFill>
                  <a:srgbClr val="454E5C"/>
                </a:solidFill>
                <a:latin typeface="Calibri"/>
              </a:rPr>
              <a:t>Named fields per step — action, control,
label, result, screenshot. Not prose.</a:t>
            </a:r>
          </a:p>
        </p:txBody>
      </p:sp>
      <p:sp>
        <p:nvSpPr>
          <p:cNvPr id="32" name="Right Arrow 31"/>
          <p:cNvSpPr/>
          <p:nvPr/>
        </p:nvSpPr>
        <p:spPr>
          <a:xfrm>
            <a:off x="9374794" y="3127248"/>
            <a:ext cx="219456" cy="182880"/>
          </a:xfrm>
          <a:prstGeom prst="rightArrow">
            <a:avLst/>
          </a:prstGeom>
          <a:solidFill>
            <a:srgbClr val="A9B3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9676546" y="2286000"/>
            <a:ext cx="1875068" cy="2084831"/>
          </a:xfrm>
          <a:prstGeom prst="rect">
            <a:avLst/>
          </a:prstGeom>
          <a:solidFill>
            <a:srgbClr val="E2F1EE"/>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841138" y="2432304"/>
            <a:ext cx="1545884" cy="182880"/>
          </a:xfrm>
          <a:prstGeom prst="rect">
            <a:avLst/>
          </a:prstGeom>
          <a:noFill/>
        </p:spPr>
        <p:txBody>
          <a:bodyPr wrap="square" anchor="t" lIns="0" rIns="0" tIns="0" bIns="0">
            <a:spAutoFit/>
          </a:bodyPr>
          <a:lstStyle/>
          <a:p>
            <a:pPr algn="l">
              <a:lnSpc>
                <a:spcPct val="115000"/>
              </a:lnSpc>
              <a:spcBef>
                <a:spcPts val="0"/>
              </a:spcBef>
              <a:spcAft>
                <a:spcPts val="500"/>
              </a:spcAft>
            </a:pPr>
            <a:r>
              <a:rPr sz="850" b="1">
                <a:solidFill>
                  <a:srgbClr val="0F766E"/>
                </a:solidFill>
                <a:latin typeface="Consolas"/>
              </a:rPr>
              <a:t>KEEP IT TRUE</a:t>
            </a:r>
          </a:p>
        </p:txBody>
      </p:sp>
      <p:sp>
        <p:nvSpPr>
          <p:cNvPr id="35" name="TextBox 34"/>
          <p:cNvSpPr txBox="1"/>
          <p:nvPr/>
        </p:nvSpPr>
        <p:spPr>
          <a:xfrm>
            <a:off x="9841138" y="2688336"/>
            <a:ext cx="1545884" cy="566928"/>
          </a:xfrm>
          <a:prstGeom prst="rect">
            <a:avLst/>
          </a:prstGeom>
          <a:noFill/>
        </p:spPr>
        <p:txBody>
          <a:bodyPr wrap="square" anchor="t" lIns="0" rIns="0" tIns="0" bIns="0">
            <a:spAutoFit/>
          </a:bodyPr>
          <a:lstStyle/>
          <a:p>
            <a:pPr algn="l">
              <a:lnSpc>
                <a:spcPct val="105000"/>
              </a:lnSpc>
              <a:spcBef>
                <a:spcPts val="0"/>
              </a:spcBef>
              <a:spcAft>
                <a:spcPts val="500"/>
              </a:spcAft>
            </a:pPr>
            <a:r>
              <a:rPr sz="1350" b="1">
                <a:solidFill>
                  <a:srgbClr val="14181F"/>
                </a:solidFill>
                <a:latin typeface="Calibri"/>
              </a:rPr>
              <a:t>Compare with the
previous version</a:t>
            </a:r>
          </a:p>
        </p:txBody>
      </p:sp>
      <p:sp>
        <p:nvSpPr>
          <p:cNvPr id="36" name="TextBox 35"/>
          <p:cNvSpPr txBox="1"/>
          <p:nvPr/>
        </p:nvSpPr>
        <p:spPr>
          <a:xfrm>
            <a:off x="9841138" y="3364992"/>
            <a:ext cx="1545884" cy="914400"/>
          </a:xfrm>
          <a:prstGeom prst="rect">
            <a:avLst/>
          </a:prstGeom>
          <a:noFill/>
        </p:spPr>
        <p:txBody>
          <a:bodyPr wrap="square" anchor="t" lIns="0" rIns="0" tIns="0" bIns="0">
            <a:spAutoFit/>
          </a:bodyPr>
          <a:lstStyle/>
          <a:p>
            <a:pPr algn="l">
              <a:lnSpc>
                <a:spcPct val="120000"/>
              </a:lnSpc>
              <a:spcBef>
                <a:spcPts val="0"/>
              </a:spcBef>
              <a:spcAft>
                <a:spcPts val="500"/>
              </a:spcAft>
            </a:pPr>
            <a:r>
              <a:rPr sz="950" b="0">
                <a:solidFill>
                  <a:srgbClr val="454E5C"/>
                </a:solidFill>
                <a:latin typeface="Calibri"/>
              </a:rPr>
              <a:t>Match each step to its old self, name
what changed, and carry hand-written
notes across.</a:t>
            </a:r>
          </a:p>
        </p:txBody>
      </p:sp>
      <p:sp>
        <p:nvSpPr>
          <p:cNvPr id="37" name="Rectangle 36"/>
          <p:cNvSpPr/>
          <p:nvPr/>
        </p:nvSpPr>
        <p:spPr>
          <a:xfrm>
            <a:off x="640080" y="4498847"/>
            <a:ext cx="137160" cy="137160"/>
          </a:xfrm>
          <a:prstGeom prst="rect">
            <a:avLst/>
          </a:prstGeom>
          <a:solidFill>
            <a:srgbClr val="E2F1EE"/>
          </a:solidFill>
          <a:ln w="952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59536" y="4480559"/>
            <a:ext cx="3108960" cy="182880"/>
          </a:xfrm>
          <a:prstGeom prst="rect">
            <a:avLst/>
          </a:prstGeom>
          <a:noFill/>
        </p:spPr>
        <p:txBody>
          <a:bodyPr wrap="square" anchor="t" lIns="0" rIns="0" tIns="0" bIns="0">
            <a:spAutoFit/>
          </a:bodyPr>
          <a:lstStyle/>
          <a:p>
            <a:pPr algn="l">
              <a:lnSpc>
                <a:spcPct val="115000"/>
              </a:lnSpc>
              <a:spcBef>
                <a:spcPts val="0"/>
              </a:spcBef>
              <a:spcAft>
                <a:spcPts val="500"/>
              </a:spcAft>
            </a:pPr>
            <a:r>
              <a:rPr sz="950" b="0">
                <a:solidFill>
                  <a:srgbClr val="0F766E"/>
                </a:solidFill>
                <a:latin typeface="Consolas"/>
              </a:rPr>
              <a:t>our own code — measurement, not guessing</a:t>
            </a:r>
          </a:p>
        </p:txBody>
      </p:sp>
      <p:sp>
        <p:nvSpPr>
          <p:cNvPr id="39" name="Rectangle 38"/>
          <p:cNvSpPr/>
          <p:nvPr/>
        </p:nvSpPr>
        <p:spPr>
          <a:xfrm>
            <a:off x="4754880" y="4498847"/>
            <a:ext cx="137160" cy="137160"/>
          </a:xfrm>
          <a:prstGeom prst="rect">
            <a:avLst/>
          </a:prstGeom>
          <a:solidFill>
            <a:srgbClr val="FBECE4"/>
          </a:solidFill>
          <a:ln w="9525">
            <a:solidFill>
              <a:srgbClr val="BE4A1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974336" y="4480559"/>
            <a:ext cx="4206240" cy="182880"/>
          </a:xfrm>
          <a:prstGeom prst="rect">
            <a:avLst/>
          </a:prstGeom>
          <a:noFill/>
        </p:spPr>
        <p:txBody>
          <a:bodyPr wrap="square" anchor="t" lIns="0" rIns="0" tIns="0" bIns="0">
            <a:spAutoFit/>
          </a:bodyPr>
          <a:lstStyle/>
          <a:p>
            <a:pPr algn="l">
              <a:lnSpc>
                <a:spcPct val="115000"/>
              </a:lnSpc>
              <a:spcBef>
                <a:spcPts val="0"/>
              </a:spcBef>
              <a:spcAft>
                <a:spcPts val="500"/>
              </a:spcAft>
            </a:pPr>
            <a:r>
              <a:rPr sz="950" b="0">
                <a:solidFill>
                  <a:srgbClr val="BE4A15"/>
                </a:solidFill>
                <a:latin typeface="Consolas"/>
              </a:rPr>
              <a:t>where a model is used — narrowly, and behind a limit</a:t>
            </a:r>
          </a:p>
        </p:txBody>
      </p:sp>
      <p:sp>
        <p:nvSpPr>
          <p:cNvPr id="41" name="Left Arrow 40"/>
          <p:cNvSpPr/>
          <p:nvPr/>
        </p:nvSpPr>
        <p:spPr>
          <a:xfrm>
            <a:off x="640080" y="4791455"/>
            <a:ext cx="10911535" cy="457200"/>
          </a:xfrm>
          <a:prstGeom prst="leftArrow">
            <a:avLst/>
          </a:prstGeom>
          <a:solidFill>
            <a:srgbClr val="EEF1F5"/>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463040" y="4910327"/>
            <a:ext cx="9875520" cy="237744"/>
          </a:xfrm>
          <a:prstGeom prst="rect">
            <a:avLst/>
          </a:prstGeom>
          <a:noFill/>
        </p:spPr>
        <p:txBody>
          <a:bodyPr wrap="square" anchor="t" lIns="0" rIns="0" tIns="0" bIns="0">
            <a:spAutoFit/>
          </a:bodyPr>
          <a:lstStyle/>
          <a:p>
            <a:pPr algn="ctr">
              <a:lnSpc>
                <a:spcPct val="115000"/>
              </a:lnSpc>
              <a:spcBef>
                <a:spcPts val="0"/>
              </a:spcBef>
              <a:spcAft>
                <a:spcPts val="500"/>
              </a:spcAft>
            </a:pPr>
            <a:r>
              <a:rPr sz="1050" b="1">
                <a:solidFill>
                  <a:srgbClr val="14181F"/>
                </a:solidFill>
                <a:latin typeface="Consolas"/>
              </a:rPr>
              <a:t>THE LOOP  ·  the vendor changes the UI, the same workflow is recorded again, and the guide is updated rather than rewritten</a:t>
            </a:r>
          </a:p>
        </p:txBody>
      </p:sp>
      <p:sp>
        <p:nvSpPr>
          <p:cNvPr id="43" name="Rectangle 42"/>
          <p:cNvSpPr/>
          <p:nvPr/>
        </p:nvSpPr>
        <p:spPr>
          <a:xfrm>
            <a:off x="640080" y="5413247"/>
            <a:ext cx="10911535" cy="512064"/>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841248" y="5458967"/>
            <a:ext cx="1463040" cy="182880"/>
          </a:xfrm>
          <a:prstGeom prst="rect">
            <a:avLst/>
          </a:prstGeom>
          <a:noFill/>
        </p:spPr>
        <p:txBody>
          <a:bodyPr wrap="square" anchor="t" lIns="0" rIns="0" tIns="0" bIns="0">
            <a:spAutoFit/>
          </a:bodyPr>
          <a:lstStyle/>
          <a:p>
            <a:pPr algn="l">
              <a:lnSpc>
                <a:spcPct val="115000"/>
              </a:lnSpc>
              <a:spcBef>
                <a:spcPts val="0"/>
              </a:spcBef>
              <a:spcAft>
                <a:spcPts val="500"/>
              </a:spcAft>
            </a:pPr>
            <a:r>
              <a:rPr sz="850" b="1">
                <a:solidFill>
                  <a:srgbClr val="6E7885"/>
                </a:solidFill>
                <a:latin typeface="Consolas"/>
              </a:rPr>
              <a:t>KEPT ON DISK</a:t>
            </a:r>
          </a:p>
        </p:txBody>
      </p:sp>
      <p:sp>
        <p:nvSpPr>
          <p:cNvPr id="45" name="TextBox 44"/>
          <p:cNvSpPr txBox="1"/>
          <p:nvPr/>
        </p:nvSpPr>
        <p:spPr>
          <a:xfrm>
            <a:off x="2331720" y="5568695"/>
            <a:ext cx="3017520" cy="237744"/>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14181F"/>
                </a:solidFill>
                <a:latin typeface="Calibri"/>
              </a:rPr>
              <a:t>Every version of every guide, never overwritten</a:t>
            </a:r>
          </a:p>
        </p:txBody>
      </p:sp>
      <p:sp>
        <p:nvSpPr>
          <p:cNvPr id="46" name="TextBox 45"/>
          <p:cNvSpPr txBox="1"/>
          <p:nvPr/>
        </p:nvSpPr>
        <p:spPr>
          <a:xfrm>
            <a:off x="5458968" y="5568695"/>
            <a:ext cx="3017520" cy="237744"/>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14181F"/>
                </a:solidFill>
                <a:latin typeface="Calibri"/>
              </a:rPr>
              <a:t>Recordings, frames and screenshots</a:t>
            </a:r>
          </a:p>
        </p:txBody>
      </p:sp>
      <p:sp>
        <p:nvSpPr>
          <p:cNvPr id="47" name="TextBox 46"/>
          <p:cNvSpPr txBox="1"/>
          <p:nvPr/>
        </p:nvSpPr>
        <p:spPr>
          <a:xfrm>
            <a:off x="8586216" y="5568695"/>
            <a:ext cx="3017520" cy="237744"/>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14181F"/>
                </a:solidFill>
                <a:latin typeface="Calibri"/>
              </a:rPr>
              <a:t>Runs on one machine — no cloud required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640080"/>
            <a:ext cx="10911535" cy="219456"/>
          </a:xfrm>
          <a:prstGeom prst="rect">
            <a:avLst/>
          </a:prstGeom>
          <a:noFill/>
        </p:spPr>
        <p:txBody>
          <a:bodyPr wrap="square" anchor="t" lIns="0" rIns="0" tIns="0" bIns="0">
            <a:spAutoFit/>
          </a:bodyPr>
          <a:lstStyle/>
          <a:p>
            <a:pPr algn="l">
              <a:lnSpc>
                <a:spcPct val="115000"/>
              </a:lnSpc>
              <a:spcBef>
                <a:spcPts val="0"/>
              </a:spcBef>
              <a:spcAft>
                <a:spcPts val="500"/>
              </a:spcAft>
            </a:pPr>
            <a:r>
              <a:rPr sz="1050" b="1">
                <a:solidFill>
                  <a:srgbClr val="BE4A15"/>
                </a:solidFill>
                <a:latin typeface="Consolas"/>
              </a:rPr>
              <a:t>04B</a:t>
            </a:r>
          </a:p>
        </p:txBody>
      </p:sp>
      <p:sp>
        <p:nvSpPr>
          <p:cNvPr id="4" name="TextBox 3"/>
          <p:cNvSpPr txBox="1"/>
          <p:nvPr/>
        </p:nvSpPr>
        <p:spPr>
          <a:xfrm>
            <a:off x="640080" y="914400"/>
            <a:ext cx="10911535" cy="548640"/>
          </a:xfrm>
          <a:prstGeom prst="rect">
            <a:avLst/>
          </a:prstGeom>
          <a:noFill/>
        </p:spPr>
        <p:txBody>
          <a:bodyPr wrap="square" anchor="t" lIns="0" rIns="0" tIns="0" bIns="0">
            <a:spAutoFit/>
          </a:bodyPr>
          <a:lstStyle/>
          <a:p>
            <a:pPr algn="l">
              <a:lnSpc>
                <a:spcPct val="95000"/>
              </a:lnSpc>
              <a:spcBef>
                <a:spcPts val="0"/>
              </a:spcBef>
              <a:spcAft>
                <a:spcPts val="500"/>
              </a:spcAft>
            </a:pPr>
            <a:r>
              <a:rPr sz="3100" b="1">
                <a:solidFill>
                  <a:srgbClr val="14181F"/>
                </a:solidFill>
                <a:latin typeface="Calibri"/>
              </a:rPr>
              <a:t>Architecture — inside the pipeline</a:t>
            </a:r>
          </a:p>
        </p:txBody>
      </p:sp>
      <p:sp>
        <p:nvSpPr>
          <p:cNvPr id="5" name="Rectangle 4"/>
          <p:cNvSpPr/>
          <p:nvPr/>
        </p:nvSpPr>
        <p:spPr>
          <a:xfrm>
            <a:off x="640080" y="6309360"/>
            <a:ext cx="10911535" cy="9525"/>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40080" y="6419088"/>
            <a:ext cx="6400800" cy="228600"/>
          </a:xfrm>
          <a:prstGeom prst="rect">
            <a:avLst/>
          </a:prstGeom>
          <a:noFill/>
        </p:spPr>
        <p:txBody>
          <a:bodyPr wrap="square" anchor="t" lIns="0" rIns="0" tIns="0" bIns="0">
            <a:spAutoFit/>
          </a:bodyPr>
          <a:lstStyle/>
          <a:p>
            <a:pPr algn="l">
              <a:lnSpc>
                <a:spcPct val="115000"/>
              </a:lnSpc>
              <a:spcBef>
                <a:spcPts val="0"/>
              </a:spcBef>
              <a:spcAft>
                <a:spcPts val="500"/>
              </a:spcAft>
            </a:pPr>
            <a:r>
              <a:rPr sz="900" b="0">
                <a:solidFill>
                  <a:srgbClr val="6E7885"/>
                </a:solidFill>
                <a:latin typeface="Consolas"/>
              </a:rPr>
              <a:t>Evergreen — keeping step-by-step guides true after the software changes</a:t>
            </a:r>
          </a:p>
        </p:txBody>
      </p:sp>
      <p:sp>
        <p:nvSpPr>
          <p:cNvPr id="7" name="TextBox 6"/>
          <p:cNvSpPr txBox="1"/>
          <p:nvPr/>
        </p:nvSpPr>
        <p:spPr>
          <a:xfrm>
            <a:off x="10637215" y="6419088"/>
            <a:ext cx="914400" cy="228600"/>
          </a:xfrm>
          <a:prstGeom prst="rect">
            <a:avLst/>
          </a:prstGeom>
          <a:noFill/>
        </p:spPr>
        <p:txBody>
          <a:bodyPr wrap="square" anchor="t" lIns="0" rIns="0" tIns="0" bIns="0">
            <a:spAutoFit/>
          </a:bodyPr>
          <a:lstStyle/>
          <a:p>
            <a:pPr algn="r">
              <a:lnSpc>
                <a:spcPct val="115000"/>
              </a:lnSpc>
              <a:spcBef>
                <a:spcPts val="0"/>
              </a:spcBef>
              <a:spcAft>
                <a:spcPts val="500"/>
              </a:spcAft>
            </a:pPr>
            <a:r>
              <a:rPr sz="900" b="0">
                <a:solidFill>
                  <a:srgbClr val="6E7885"/>
                </a:solidFill>
                <a:latin typeface="Consolas"/>
              </a:rPr>
              <a:t>06</a:t>
            </a:r>
          </a:p>
        </p:txBody>
      </p:sp>
      <p:sp>
        <p:nvSpPr>
          <p:cNvPr id="8" name="Rectangle 7"/>
          <p:cNvSpPr/>
          <p:nvPr/>
        </p:nvSpPr>
        <p:spPr>
          <a:xfrm>
            <a:off x="640080" y="1591056"/>
            <a:ext cx="10911535" cy="402336"/>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591056"/>
            <a:ext cx="38100"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77824" y="1691640"/>
            <a:ext cx="2743200" cy="237744"/>
          </a:xfrm>
          <a:prstGeom prst="rect">
            <a:avLst/>
          </a:prstGeom>
          <a:noFill/>
        </p:spPr>
        <p:txBody>
          <a:bodyPr wrap="square" anchor="t" lIns="0" rIns="0" tIns="0" bIns="0">
            <a:spAutoFit/>
          </a:bodyPr>
          <a:lstStyle/>
          <a:p>
            <a:pPr algn="l">
              <a:lnSpc>
                <a:spcPct val="115000"/>
              </a:lnSpc>
              <a:spcBef>
                <a:spcPts val="0"/>
              </a:spcBef>
              <a:spcAft>
                <a:spcPts val="500"/>
              </a:spcAft>
            </a:pPr>
            <a:r>
              <a:rPr sz="1250" b="1">
                <a:solidFill>
                  <a:srgbClr val="14181F"/>
                </a:solidFill>
                <a:latin typeface="Calibri"/>
              </a:rPr>
              <a:t>Take in the recording</a:t>
            </a:r>
          </a:p>
        </p:txBody>
      </p:sp>
      <p:sp>
        <p:nvSpPr>
          <p:cNvPr id="11" name="TextBox 10"/>
          <p:cNvSpPr txBox="1"/>
          <p:nvPr/>
        </p:nvSpPr>
        <p:spPr>
          <a:xfrm>
            <a:off x="3840480" y="1700784"/>
            <a:ext cx="6309360" cy="237744"/>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Store it, and read its length and size</a:t>
            </a:r>
          </a:p>
        </p:txBody>
      </p:sp>
      <p:sp>
        <p:nvSpPr>
          <p:cNvPr id="12" name="TextBox 11"/>
          <p:cNvSpPr txBox="1"/>
          <p:nvPr/>
        </p:nvSpPr>
        <p:spPr>
          <a:xfrm>
            <a:off x="10287000" y="1709928"/>
            <a:ext cx="1234440" cy="219456"/>
          </a:xfrm>
          <a:prstGeom prst="rect">
            <a:avLst/>
          </a:prstGeom>
          <a:noFill/>
        </p:spPr>
        <p:txBody>
          <a:bodyPr wrap="square" anchor="t" lIns="0" rIns="0" tIns="0" bIns="0">
            <a:spAutoFit/>
          </a:bodyPr>
          <a:lstStyle/>
          <a:p>
            <a:pPr algn="r">
              <a:lnSpc>
                <a:spcPct val="115000"/>
              </a:lnSpc>
              <a:spcBef>
                <a:spcPts val="0"/>
              </a:spcBef>
              <a:spcAft>
                <a:spcPts val="500"/>
              </a:spcAft>
            </a:pPr>
            <a:r>
              <a:rPr sz="850" b="1">
                <a:solidFill>
                  <a:srgbClr val="0F766E"/>
                </a:solidFill>
                <a:latin typeface="Consolas"/>
              </a:rPr>
              <a:t>our code</a:t>
            </a:r>
          </a:p>
        </p:txBody>
      </p:sp>
      <p:sp>
        <p:nvSpPr>
          <p:cNvPr id="13" name="Rectangle 12"/>
          <p:cNvSpPr/>
          <p:nvPr/>
        </p:nvSpPr>
        <p:spPr>
          <a:xfrm>
            <a:off x="640080" y="2048256"/>
            <a:ext cx="10911535" cy="402336"/>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40080" y="2048256"/>
            <a:ext cx="38100"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2148840"/>
            <a:ext cx="2743200" cy="237744"/>
          </a:xfrm>
          <a:prstGeom prst="rect">
            <a:avLst/>
          </a:prstGeom>
          <a:noFill/>
        </p:spPr>
        <p:txBody>
          <a:bodyPr wrap="square" anchor="t" lIns="0" rIns="0" tIns="0" bIns="0">
            <a:spAutoFit/>
          </a:bodyPr>
          <a:lstStyle/>
          <a:p>
            <a:pPr algn="l">
              <a:lnSpc>
                <a:spcPct val="115000"/>
              </a:lnSpc>
              <a:spcBef>
                <a:spcPts val="0"/>
              </a:spcBef>
              <a:spcAft>
                <a:spcPts val="500"/>
              </a:spcAft>
            </a:pPr>
            <a:r>
              <a:rPr sz="1250" b="1">
                <a:solidFill>
                  <a:srgbClr val="14181F"/>
                </a:solidFill>
                <a:latin typeface="Calibri"/>
              </a:rPr>
              <a:t>Listen</a:t>
            </a:r>
          </a:p>
        </p:txBody>
      </p:sp>
      <p:sp>
        <p:nvSpPr>
          <p:cNvPr id="16" name="TextBox 15"/>
          <p:cNvSpPr txBox="1"/>
          <p:nvPr/>
        </p:nvSpPr>
        <p:spPr>
          <a:xfrm>
            <a:off x="3840480" y="2157984"/>
            <a:ext cx="6309360" cy="237744"/>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Extract the audio and transcribe it on this machine</a:t>
            </a:r>
          </a:p>
        </p:txBody>
      </p:sp>
      <p:sp>
        <p:nvSpPr>
          <p:cNvPr id="17" name="TextBox 16"/>
          <p:cNvSpPr txBox="1"/>
          <p:nvPr/>
        </p:nvSpPr>
        <p:spPr>
          <a:xfrm>
            <a:off x="10287000" y="2167128"/>
            <a:ext cx="1234440" cy="219456"/>
          </a:xfrm>
          <a:prstGeom prst="rect">
            <a:avLst/>
          </a:prstGeom>
          <a:noFill/>
        </p:spPr>
        <p:txBody>
          <a:bodyPr wrap="square" anchor="t" lIns="0" rIns="0" tIns="0" bIns="0">
            <a:spAutoFit/>
          </a:bodyPr>
          <a:lstStyle/>
          <a:p>
            <a:pPr algn="r">
              <a:lnSpc>
                <a:spcPct val="115000"/>
              </a:lnSpc>
              <a:spcBef>
                <a:spcPts val="0"/>
              </a:spcBef>
              <a:spcAft>
                <a:spcPts val="500"/>
              </a:spcAft>
            </a:pPr>
            <a:r>
              <a:rPr sz="850" b="1">
                <a:solidFill>
                  <a:srgbClr val="0F766E"/>
                </a:solidFill>
                <a:latin typeface="Consolas"/>
              </a:rPr>
              <a:t>our code</a:t>
            </a:r>
          </a:p>
        </p:txBody>
      </p:sp>
      <p:sp>
        <p:nvSpPr>
          <p:cNvPr id="18" name="Rectangle 17"/>
          <p:cNvSpPr/>
          <p:nvPr/>
        </p:nvSpPr>
        <p:spPr>
          <a:xfrm>
            <a:off x="640080" y="2505456"/>
            <a:ext cx="10911535" cy="402336"/>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40080" y="2505456"/>
            <a:ext cx="38100"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77824" y="2606040"/>
            <a:ext cx="2743200" cy="237744"/>
          </a:xfrm>
          <a:prstGeom prst="rect">
            <a:avLst/>
          </a:prstGeom>
          <a:noFill/>
        </p:spPr>
        <p:txBody>
          <a:bodyPr wrap="square" anchor="t" lIns="0" rIns="0" tIns="0" bIns="0">
            <a:spAutoFit/>
          </a:bodyPr>
          <a:lstStyle/>
          <a:p>
            <a:pPr algn="l">
              <a:lnSpc>
                <a:spcPct val="115000"/>
              </a:lnSpc>
              <a:spcBef>
                <a:spcPts val="0"/>
              </a:spcBef>
              <a:spcAft>
                <a:spcPts val="500"/>
              </a:spcAft>
            </a:pPr>
            <a:r>
              <a:rPr sz="1250" b="1">
                <a:solidFill>
                  <a:srgbClr val="14181F"/>
                </a:solidFill>
                <a:latin typeface="Calibri"/>
              </a:rPr>
              <a:t>Sample</a:t>
            </a:r>
          </a:p>
        </p:txBody>
      </p:sp>
      <p:sp>
        <p:nvSpPr>
          <p:cNvPr id="21" name="TextBox 20"/>
          <p:cNvSpPr txBox="1"/>
          <p:nvPr/>
        </p:nvSpPr>
        <p:spPr>
          <a:xfrm>
            <a:off x="3840480" y="2615184"/>
            <a:ext cx="6309360" cy="237744"/>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Turn the video into frames, and measure how each differs from the last</a:t>
            </a:r>
          </a:p>
        </p:txBody>
      </p:sp>
      <p:sp>
        <p:nvSpPr>
          <p:cNvPr id="22" name="TextBox 21"/>
          <p:cNvSpPr txBox="1"/>
          <p:nvPr/>
        </p:nvSpPr>
        <p:spPr>
          <a:xfrm>
            <a:off x="10287000" y="2624328"/>
            <a:ext cx="1234440" cy="219456"/>
          </a:xfrm>
          <a:prstGeom prst="rect">
            <a:avLst/>
          </a:prstGeom>
          <a:noFill/>
        </p:spPr>
        <p:txBody>
          <a:bodyPr wrap="square" anchor="t" lIns="0" rIns="0" tIns="0" bIns="0">
            <a:spAutoFit/>
          </a:bodyPr>
          <a:lstStyle/>
          <a:p>
            <a:pPr algn="r">
              <a:lnSpc>
                <a:spcPct val="115000"/>
              </a:lnSpc>
              <a:spcBef>
                <a:spcPts val="0"/>
              </a:spcBef>
              <a:spcAft>
                <a:spcPts val="500"/>
              </a:spcAft>
            </a:pPr>
            <a:r>
              <a:rPr sz="850" b="1">
                <a:solidFill>
                  <a:srgbClr val="0F766E"/>
                </a:solidFill>
                <a:latin typeface="Consolas"/>
              </a:rPr>
              <a:t>our code</a:t>
            </a:r>
          </a:p>
        </p:txBody>
      </p:sp>
      <p:sp>
        <p:nvSpPr>
          <p:cNvPr id="23" name="Rectangle 22"/>
          <p:cNvSpPr/>
          <p:nvPr/>
        </p:nvSpPr>
        <p:spPr>
          <a:xfrm>
            <a:off x="640080" y="2962656"/>
            <a:ext cx="10911535" cy="402336"/>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40080" y="2962656"/>
            <a:ext cx="38100"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77824" y="3063240"/>
            <a:ext cx="2743200" cy="237744"/>
          </a:xfrm>
          <a:prstGeom prst="rect">
            <a:avLst/>
          </a:prstGeom>
          <a:noFill/>
        </p:spPr>
        <p:txBody>
          <a:bodyPr wrap="square" anchor="t" lIns="0" rIns="0" tIns="0" bIns="0">
            <a:spAutoFit/>
          </a:bodyPr>
          <a:lstStyle/>
          <a:p>
            <a:pPr algn="l">
              <a:lnSpc>
                <a:spcPct val="115000"/>
              </a:lnSpc>
              <a:spcBef>
                <a:spcPts val="0"/>
              </a:spcBef>
              <a:spcAft>
                <a:spcPts val="500"/>
              </a:spcAft>
            </a:pPr>
            <a:r>
              <a:rPr sz="1250" b="1">
                <a:solidFill>
                  <a:srgbClr val="14181F"/>
                </a:solidFill>
                <a:latin typeface="Calibri"/>
              </a:rPr>
              <a:t>Find the changes</a:t>
            </a:r>
          </a:p>
        </p:txBody>
      </p:sp>
      <p:sp>
        <p:nvSpPr>
          <p:cNvPr id="26" name="TextBox 25"/>
          <p:cNvSpPr txBox="1"/>
          <p:nvPr/>
        </p:nvSpPr>
        <p:spPr>
          <a:xfrm>
            <a:off x="3840480" y="3072384"/>
            <a:ext cx="6309360" cy="237744"/>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Locate real screen changes, and wait for the screen to settle</a:t>
            </a:r>
          </a:p>
        </p:txBody>
      </p:sp>
      <p:sp>
        <p:nvSpPr>
          <p:cNvPr id="27" name="TextBox 26"/>
          <p:cNvSpPr txBox="1"/>
          <p:nvPr/>
        </p:nvSpPr>
        <p:spPr>
          <a:xfrm>
            <a:off x="10287000" y="3081528"/>
            <a:ext cx="1234440" cy="219456"/>
          </a:xfrm>
          <a:prstGeom prst="rect">
            <a:avLst/>
          </a:prstGeom>
          <a:noFill/>
        </p:spPr>
        <p:txBody>
          <a:bodyPr wrap="square" anchor="t" lIns="0" rIns="0" tIns="0" bIns="0">
            <a:spAutoFit/>
          </a:bodyPr>
          <a:lstStyle/>
          <a:p>
            <a:pPr algn="r">
              <a:lnSpc>
                <a:spcPct val="115000"/>
              </a:lnSpc>
              <a:spcBef>
                <a:spcPts val="0"/>
              </a:spcBef>
              <a:spcAft>
                <a:spcPts val="500"/>
              </a:spcAft>
            </a:pPr>
            <a:r>
              <a:rPr sz="850" b="1">
                <a:solidFill>
                  <a:srgbClr val="0F766E"/>
                </a:solidFill>
                <a:latin typeface="Consolas"/>
              </a:rPr>
              <a:t>our code</a:t>
            </a:r>
          </a:p>
        </p:txBody>
      </p:sp>
      <p:sp>
        <p:nvSpPr>
          <p:cNvPr id="28" name="Rectangle 27"/>
          <p:cNvSpPr/>
          <p:nvPr/>
        </p:nvSpPr>
        <p:spPr>
          <a:xfrm>
            <a:off x="640080" y="3419856"/>
            <a:ext cx="10911535" cy="402336"/>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40080" y="3419856"/>
            <a:ext cx="38100"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77824" y="3520440"/>
            <a:ext cx="2743200" cy="237744"/>
          </a:xfrm>
          <a:prstGeom prst="rect">
            <a:avLst/>
          </a:prstGeom>
          <a:noFill/>
        </p:spPr>
        <p:txBody>
          <a:bodyPr wrap="square" anchor="t" lIns="0" rIns="0" tIns="0" bIns="0">
            <a:spAutoFit/>
          </a:bodyPr>
          <a:lstStyle/>
          <a:p>
            <a:pPr algn="l">
              <a:lnSpc>
                <a:spcPct val="115000"/>
              </a:lnSpc>
              <a:spcBef>
                <a:spcPts val="0"/>
              </a:spcBef>
              <a:spcAft>
                <a:spcPts val="500"/>
              </a:spcAft>
            </a:pPr>
            <a:r>
              <a:rPr sz="1250" b="1">
                <a:solidFill>
                  <a:srgbClr val="14181F"/>
                </a:solidFill>
                <a:latin typeface="Calibri"/>
              </a:rPr>
              <a:t>Choose what matters</a:t>
            </a:r>
          </a:p>
        </p:txBody>
      </p:sp>
      <p:sp>
        <p:nvSpPr>
          <p:cNvPr id="31" name="TextBox 30"/>
          <p:cNvSpPr txBox="1"/>
          <p:nvPr/>
        </p:nvSpPr>
        <p:spPr>
          <a:xfrm>
            <a:off x="3840480" y="3529584"/>
            <a:ext cx="6309360" cy="237744"/>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Rank the moments, drop repeated screens, keep only a few</a:t>
            </a:r>
          </a:p>
        </p:txBody>
      </p:sp>
      <p:sp>
        <p:nvSpPr>
          <p:cNvPr id="32" name="TextBox 31"/>
          <p:cNvSpPr txBox="1"/>
          <p:nvPr/>
        </p:nvSpPr>
        <p:spPr>
          <a:xfrm>
            <a:off x="10287000" y="3538728"/>
            <a:ext cx="1234440" cy="219456"/>
          </a:xfrm>
          <a:prstGeom prst="rect">
            <a:avLst/>
          </a:prstGeom>
          <a:noFill/>
        </p:spPr>
        <p:txBody>
          <a:bodyPr wrap="square" anchor="t" lIns="0" rIns="0" tIns="0" bIns="0">
            <a:spAutoFit/>
          </a:bodyPr>
          <a:lstStyle/>
          <a:p>
            <a:pPr algn="r">
              <a:lnSpc>
                <a:spcPct val="115000"/>
              </a:lnSpc>
              <a:spcBef>
                <a:spcPts val="0"/>
              </a:spcBef>
              <a:spcAft>
                <a:spcPts val="500"/>
              </a:spcAft>
            </a:pPr>
            <a:r>
              <a:rPr sz="850" b="1">
                <a:solidFill>
                  <a:srgbClr val="0F766E"/>
                </a:solidFill>
                <a:latin typeface="Consolas"/>
              </a:rPr>
              <a:t>our code</a:t>
            </a:r>
          </a:p>
        </p:txBody>
      </p:sp>
      <p:sp>
        <p:nvSpPr>
          <p:cNvPr id="33" name="Rectangle 32"/>
          <p:cNvSpPr/>
          <p:nvPr/>
        </p:nvSpPr>
        <p:spPr>
          <a:xfrm>
            <a:off x="640080" y="3877056"/>
            <a:ext cx="10911535" cy="402336"/>
          </a:xfrm>
          <a:prstGeom prst="rect">
            <a:avLst/>
          </a:prstGeom>
          <a:solidFill>
            <a:srgbClr val="FBECE4"/>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40080" y="3877056"/>
            <a:ext cx="38100" cy="402336"/>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77824" y="3977640"/>
            <a:ext cx="2743200" cy="237744"/>
          </a:xfrm>
          <a:prstGeom prst="rect">
            <a:avLst/>
          </a:prstGeom>
          <a:noFill/>
        </p:spPr>
        <p:txBody>
          <a:bodyPr wrap="square" anchor="t" lIns="0" rIns="0" tIns="0" bIns="0">
            <a:spAutoFit/>
          </a:bodyPr>
          <a:lstStyle/>
          <a:p>
            <a:pPr algn="l">
              <a:lnSpc>
                <a:spcPct val="115000"/>
              </a:lnSpc>
              <a:spcBef>
                <a:spcPts val="0"/>
              </a:spcBef>
              <a:spcAft>
                <a:spcPts val="500"/>
              </a:spcAft>
            </a:pPr>
            <a:r>
              <a:rPr sz="1250" b="1">
                <a:solidFill>
                  <a:srgbClr val="14181F"/>
                </a:solidFill>
                <a:latin typeface="Calibri"/>
              </a:rPr>
              <a:t>Step, or noise?</a:t>
            </a:r>
          </a:p>
        </p:txBody>
      </p:sp>
      <p:sp>
        <p:nvSpPr>
          <p:cNvPr id="36" name="TextBox 35"/>
          <p:cNvSpPr txBox="1"/>
          <p:nvPr/>
        </p:nvSpPr>
        <p:spPr>
          <a:xfrm>
            <a:off x="3840480" y="3986784"/>
            <a:ext cx="6309360" cy="237744"/>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Decide which screens are real steps rather than scrolling</a:t>
            </a:r>
          </a:p>
        </p:txBody>
      </p:sp>
      <p:sp>
        <p:nvSpPr>
          <p:cNvPr id="37" name="TextBox 36"/>
          <p:cNvSpPr txBox="1"/>
          <p:nvPr/>
        </p:nvSpPr>
        <p:spPr>
          <a:xfrm>
            <a:off x="10287000" y="3995928"/>
            <a:ext cx="1234440" cy="219456"/>
          </a:xfrm>
          <a:prstGeom prst="rect">
            <a:avLst/>
          </a:prstGeom>
          <a:noFill/>
        </p:spPr>
        <p:txBody>
          <a:bodyPr wrap="square" anchor="t" lIns="0" rIns="0" tIns="0" bIns="0">
            <a:spAutoFit/>
          </a:bodyPr>
          <a:lstStyle/>
          <a:p>
            <a:pPr algn="r">
              <a:lnSpc>
                <a:spcPct val="115000"/>
              </a:lnSpc>
              <a:spcBef>
                <a:spcPts val="0"/>
              </a:spcBef>
              <a:spcAft>
                <a:spcPts val="500"/>
              </a:spcAft>
            </a:pPr>
            <a:r>
              <a:rPr sz="850" b="1">
                <a:solidFill>
                  <a:srgbClr val="BE4A15"/>
                </a:solidFill>
                <a:latin typeface="Consolas"/>
              </a:rPr>
              <a:t>model, only when unclear</a:t>
            </a:r>
          </a:p>
        </p:txBody>
      </p:sp>
      <p:sp>
        <p:nvSpPr>
          <p:cNvPr id="38" name="Rectangle 37"/>
          <p:cNvSpPr/>
          <p:nvPr/>
        </p:nvSpPr>
        <p:spPr>
          <a:xfrm>
            <a:off x="640080" y="4334256"/>
            <a:ext cx="10911535" cy="402336"/>
          </a:xfrm>
          <a:prstGeom prst="rect">
            <a:avLst/>
          </a:prstGeom>
          <a:solidFill>
            <a:srgbClr val="FBECE4"/>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640080" y="4334256"/>
            <a:ext cx="38100" cy="402336"/>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77824" y="4434840"/>
            <a:ext cx="2743200" cy="237744"/>
          </a:xfrm>
          <a:prstGeom prst="rect">
            <a:avLst/>
          </a:prstGeom>
          <a:noFill/>
        </p:spPr>
        <p:txBody>
          <a:bodyPr wrap="square" anchor="t" lIns="0" rIns="0" tIns="0" bIns="0">
            <a:spAutoFit/>
          </a:bodyPr>
          <a:lstStyle/>
          <a:p>
            <a:pPr algn="l">
              <a:lnSpc>
                <a:spcPct val="115000"/>
              </a:lnSpc>
              <a:spcBef>
                <a:spcPts val="0"/>
              </a:spcBef>
              <a:spcAft>
                <a:spcPts val="500"/>
              </a:spcAft>
            </a:pPr>
            <a:r>
              <a:rPr sz="1250" b="1">
                <a:solidFill>
                  <a:srgbClr val="14181F"/>
                </a:solidFill>
                <a:latin typeface="Calibri"/>
              </a:rPr>
              <a:t>Write the step</a:t>
            </a:r>
          </a:p>
        </p:txBody>
      </p:sp>
      <p:sp>
        <p:nvSpPr>
          <p:cNvPr id="41" name="TextBox 40"/>
          <p:cNvSpPr txBox="1"/>
          <p:nvPr/>
        </p:nvSpPr>
        <p:spPr>
          <a:xfrm>
            <a:off x="3840480" y="4443984"/>
            <a:ext cx="6309360" cy="237744"/>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Read the screen and fill in the fields</a:t>
            </a:r>
          </a:p>
        </p:txBody>
      </p:sp>
      <p:sp>
        <p:nvSpPr>
          <p:cNvPr id="42" name="TextBox 41"/>
          <p:cNvSpPr txBox="1"/>
          <p:nvPr/>
        </p:nvSpPr>
        <p:spPr>
          <a:xfrm>
            <a:off x="10287000" y="4453128"/>
            <a:ext cx="1234440" cy="219456"/>
          </a:xfrm>
          <a:prstGeom prst="rect">
            <a:avLst/>
          </a:prstGeom>
          <a:noFill/>
        </p:spPr>
        <p:txBody>
          <a:bodyPr wrap="square" anchor="t" lIns="0" rIns="0" tIns="0" bIns="0">
            <a:spAutoFit/>
          </a:bodyPr>
          <a:lstStyle/>
          <a:p>
            <a:pPr algn="r">
              <a:lnSpc>
                <a:spcPct val="115000"/>
              </a:lnSpc>
              <a:spcBef>
                <a:spcPts val="0"/>
              </a:spcBef>
              <a:spcAft>
                <a:spcPts val="500"/>
              </a:spcAft>
            </a:pPr>
            <a:r>
              <a:rPr sz="850" b="1">
                <a:solidFill>
                  <a:srgbClr val="BE4A15"/>
                </a:solidFill>
                <a:latin typeface="Consolas"/>
              </a:rPr>
              <a:t>model, only when unclear</a:t>
            </a:r>
          </a:p>
        </p:txBody>
      </p:sp>
      <p:sp>
        <p:nvSpPr>
          <p:cNvPr id="43" name="Rectangle 42"/>
          <p:cNvSpPr/>
          <p:nvPr/>
        </p:nvSpPr>
        <p:spPr>
          <a:xfrm>
            <a:off x="640080" y="4791456"/>
            <a:ext cx="10911535" cy="402336"/>
          </a:xfrm>
          <a:prstGeom prst="rect">
            <a:avLst/>
          </a:prstGeom>
          <a:solidFill>
            <a:srgbClr val="FBECE4"/>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640080" y="4791456"/>
            <a:ext cx="38100" cy="402336"/>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77824" y="4892040"/>
            <a:ext cx="2743200" cy="237744"/>
          </a:xfrm>
          <a:prstGeom prst="rect">
            <a:avLst/>
          </a:prstGeom>
          <a:noFill/>
        </p:spPr>
        <p:txBody>
          <a:bodyPr wrap="square" anchor="t" lIns="0" rIns="0" tIns="0" bIns="0">
            <a:spAutoFit/>
          </a:bodyPr>
          <a:lstStyle/>
          <a:p>
            <a:pPr algn="l">
              <a:lnSpc>
                <a:spcPct val="115000"/>
              </a:lnSpc>
              <a:spcBef>
                <a:spcPts val="0"/>
              </a:spcBef>
              <a:spcAft>
                <a:spcPts val="500"/>
              </a:spcAft>
            </a:pPr>
            <a:r>
              <a:rPr sz="1250" b="1">
                <a:solidFill>
                  <a:srgbClr val="14181F"/>
                </a:solidFill>
                <a:latin typeface="Calibri"/>
              </a:rPr>
              <a:t>Compare</a:t>
            </a:r>
          </a:p>
        </p:txBody>
      </p:sp>
      <p:sp>
        <p:nvSpPr>
          <p:cNvPr id="46" name="TextBox 45"/>
          <p:cNvSpPr txBox="1"/>
          <p:nvPr/>
        </p:nvSpPr>
        <p:spPr>
          <a:xfrm>
            <a:off x="3840480" y="4901184"/>
            <a:ext cx="6309360" cy="237744"/>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Match against the previous version and report what changed</a:t>
            </a:r>
          </a:p>
        </p:txBody>
      </p:sp>
      <p:sp>
        <p:nvSpPr>
          <p:cNvPr id="47" name="TextBox 46"/>
          <p:cNvSpPr txBox="1"/>
          <p:nvPr/>
        </p:nvSpPr>
        <p:spPr>
          <a:xfrm>
            <a:off x="10287000" y="4910328"/>
            <a:ext cx="1234440" cy="219456"/>
          </a:xfrm>
          <a:prstGeom prst="rect">
            <a:avLst/>
          </a:prstGeom>
          <a:noFill/>
        </p:spPr>
        <p:txBody>
          <a:bodyPr wrap="square" anchor="t" lIns="0" rIns="0" tIns="0" bIns="0">
            <a:spAutoFit/>
          </a:bodyPr>
          <a:lstStyle/>
          <a:p>
            <a:pPr algn="r">
              <a:lnSpc>
                <a:spcPct val="115000"/>
              </a:lnSpc>
              <a:spcBef>
                <a:spcPts val="0"/>
              </a:spcBef>
              <a:spcAft>
                <a:spcPts val="500"/>
              </a:spcAft>
            </a:pPr>
            <a:r>
              <a:rPr sz="850" b="1">
                <a:solidFill>
                  <a:srgbClr val="BE4A15"/>
                </a:solidFill>
                <a:latin typeface="Consolas"/>
              </a:rPr>
              <a:t>model, only when unclear</a:t>
            </a:r>
          </a:p>
        </p:txBody>
      </p:sp>
      <p:sp>
        <p:nvSpPr>
          <p:cNvPr id="48" name="Rectangle 47"/>
          <p:cNvSpPr/>
          <p:nvPr/>
        </p:nvSpPr>
        <p:spPr>
          <a:xfrm>
            <a:off x="640080" y="5248656"/>
            <a:ext cx="10911535" cy="402336"/>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640080" y="5248656"/>
            <a:ext cx="38100"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77824" y="5349240"/>
            <a:ext cx="2743200" cy="237744"/>
          </a:xfrm>
          <a:prstGeom prst="rect">
            <a:avLst/>
          </a:prstGeom>
          <a:noFill/>
        </p:spPr>
        <p:txBody>
          <a:bodyPr wrap="square" anchor="t" lIns="0" rIns="0" tIns="0" bIns="0">
            <a:spAutoFit/>
          </a:bodyPr>
          <a:lstStyle/>
          <a:p>
            <a:pPr algn="l">
              <a:lnSpc>
                <a:spcPct val="115000"/>
              </a:lnSpc>
              <a:spcBef>
                <a:spcPts val="0"/>
              </a:spcBef>
              <a:spcAft>
                <a:spcPts val="500"/>
              </a:spcAft>
            </a:pPr>
            <a:r>
              <a:rPr sz="1250" b="1">
                <a:solidFill>
                  <a:srgbClr val="14181F"/>
                </a:solidFill>
                <a:latin typeface="Calibri"/>
              </a:rPr>
              <a:t>Publish</a:t>
            </a:r>
          </a:p>
        </p:txBody>
      </p:sp>
      <p:sp>
        <p:nvSpPr>
          <p:cNvPr id="51" name="TextBox 50"/>
          <p:cNvSpPr txBox="1"/>
          <p:nvPr/>
        </p:nvSpPr>
        <p:spPr>
          <a:xfrm>
            <a:off x="3840480" y="5358384"/>
            <a:ext cx="6309360" cy="237744"/>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Markdown and HTML</a:t>
            </a:r>
          </a:p>
        </p:txBody>
      </p:sp>
      <p:sp>
        <p:nvSpPr>
          <p:cNvPr id="52" name="TextBox 51"/>
          <p:cNvSpPr txBox="1"/>
          <p:nvPr/>
        </p:nvSpPr>
        <p:spPr>
          <a:xfrm>
            <a:off x="10287000" y="5367528"/>
            <a:ext cx="1234440" cy="219456"/>
          </a:xfrm>
          <a:prstGeom prst="rect">
            <a:avLst/>
          </a:prstGeom>
          <a:noFill/>
        </p:spPr>
        <p:txBody>
          <a:bodyPr wrap="square" anchor="t" lIns="0" rIns="0" tIns="0" bIns="0">
            <a:spAutoFit/>
          </a:bodyPr>
          <a:lstStyle/>
          <a:p>
            <a:pPr algn="r">
              <a:lnSpc>
                <a:spcPct val="115000"/>
              </a:lnSpc>
              <a:spcBef>
                <a:spcPts val="0"/>
              </a:spcBef>
              <a:spcAft>
                <a:spcPts val="500"/>
              </a:spcAft>
            </a:pPr>
            <a:r>
              <a:rPr sz="850" b="1">
                <a:solidFill>
                  <a:srgbClr val="0F766E"/>
                </a:solidFill>
                <a:latin typeface="Consolas"/>
              </a:rPr>
              <a:t>our code</a:t>
            </a:r>
          </a:p>
        </p:txBody>
      </p:sp>
      <p:sp>
        <p:nvSpPr>
          <p:cNvPr id="53" name="TextBox 52"/>
          <p:cNvSpPr txBox="1"/>
          <p:nvPr/>
        </p:nvSpPr>
        <p:spPr>
          <a:xfrm>
            <a:off x="640080" y="5779008"/>
            <a:ext cx="10911535" cy="457200"/>
          </a:xfrm>
          <a:prstGeom prst="rect">
            <a:avLst/>
          </a:prstGeom>
          <a:noFill/>
        </p:spPr>
        <p:txBody>
          <a:bodyPr wrap="square" anchor="t" lIns="0" rIns="0" tIns="0" bIns="0">
            <a:spAutoFit/>
          </a:bodyPr>
          <a:lstStyle/>
          <a:p>
            <a:pPr algn="l">
              <a:lnSpc>
                <a:spcPct val="122000"/>
              </a:lnSpc>
              <a:spcBef>
                <a:spcPts val="0"/>
              </a:spcBef>
              <a:spcAft>
                <a:spcPts val="500"/>
              </a:spcAft>
            </a:pPr>
            <a:r>
              <a:rPr sz="1150" b="0">
                <a:solidFill>
                  <a:srgbClr val="6E7885"/>
                </a:solidFill>
                <a:latin typeface="Calibri"/>
              </a:rPr>
              <a:t>Each stage reads and writes disk, so any one can be re-run on its own and nothing is ever computed twice. And the hard part happens before the model is involved: by the time anything is sent away, which screens matter has already been decided by our own code — a part that can be inspected, tested and repeated.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640080"/>
            <a:ext cx="10911535" cy="219456"/>
          </a:xfrm>
          <a:prstGeom prst="rect">
            <a:avLst/>
          </a:prstGeom>
          <a:noFill/>
        </p:spPr>
        <p:txBody>
          <a:bodyPr wrap="square" anchor="t" lIns="0" rIns="0" tIns="0" bIns="0">
            <a:spAutoFit/>
          </a:bodyPr>
          <a:lstStyle/>
          <a:p>
            <a:pPr algn="l">
              <a:lnSpc>
                <a:spcPct val="115000"/>
              </a:lnSpc>
              <a:spcBef>
                <a:spcPts val="0"/>
              </a:spcBef>
              <a:spcAft>
                <a:spcPts val="500"/>
              </a:spcAft>
            </a:pPr>
            <a:r>
              <a:rPr sz="1050" b="1">
                <a:solidFill>
                  <a:srgbClr val="BE4A15"/>
                </a:solidFill>
                <a:latin typeface="Consolas"/>
              </a:rPr>
              <a:t>04C</a:t>
            </a:r>
          </a:p>
        </p:txBody>
      </p:sp>
      <p:sp>
        <p:nvSpPr>
          <p:cNvPr id="4" name="TextBox 3"/>
          <p:cNvSpPr txBox="1"/>
          <p:nvPr/>
        </p:nvSpPr>
        <p:spPr>
          <a:xfrm>
            <a:off x="640080" y="914400"/>
            <a:ext cx="10911535" cy="548640"/>
          </a:xfrm>
          <a:prstGeom prst="rect">
            <a:avLst/>
          </a:prstGeom>
          <a:noFill/>
        </p:spPr>
        <p:txBody>
          <a:bodyPr wrap="square" anchor="t" lIns="0" rIns="0" tIns="0" bIns="0">
            <a:spAutoFit/>
          </a:bodyPr>
          <a:lstStyle/>
          <a:p>
            <a:pPr algn="l">
              <a:lnSpc>
                <a:spcPct val="95000"/>
              </a:lnSpc>
              <a:spcBef>
                <a:spcPts val="0"/>
              </a:spcBef>
              <a:spcAft>
                <a:spcPts val="500"/>
              </a:spcAft>
            </a:pPr>
            <a:r>
              <a:rPr sz="3100" b="1">
                <a:solidFill>
                  <a:srgbClr val="14181F"/>
                </a:solidFill>
                <a:latin typeface="Calibri"/>
              </a:rPr>
              <a:t>Complexity — what the work actually was</a:t>
            </a:r>
          </a:p>
        </p:txBody>
      </p:sp>
      <p:sp>
        <p:nvSpPr>
          <p:cNvPr id="5" name="TextBox 4"/>
          <p:cNvSpPr txBox="1"/>
          <p:nvPr/>
        </p:nvSpPr>
        <p:spPr>
          <a:xfrm>
            <a:off x="640080" y="1499616"/>
            <a:ext cx="9509760" cy="365760"/>
          </a:xfrm>
          <a:prstGeom prst="rect">
            <a:avLst/>
          </a:prstGeom>
          <a:noFill/>
        </p:spPr>
        <p:txBody>
          <a:bodyPr wrap="square" anchor="t" lIns="0" rIns="0" tIns="0" bIns="0">
            <a:spAutoFit/>
          </a:bodyPr>
          <a:lstStyle/>
          <a:p>
            <a:pPr algn="l">
              <a:lnSpc>
                <a:spcPct val="115000"/>
              </a:lnSpc>
              <a:spcBef>
                <a:spcPts val="0"/>
              </a:spcBef>
              <a:spcAft>
                <a:spcPts val="500"/>
              </a:spcAft>
            </a:pPr>
            <a:r>
              <a:rPr sz="1400" b="0">
                <a:solidFill>
                  <a:srgbClr val="6E7885"/>
                </a:solidFill>
                <a:latin typeface="Calibri"/>
              </a:rPr>
              <a:t>Most of the design came from measurements that contradicted the obvious approach.</a:t>
            </a:r>
          </a:p>
        </p:txBody>
      </p:sp>
      <p:sp>
        <p:nvSpPr>
          <p:cNvPr id="6" name="Rectangle 5"/>
          <p:cNvSpPr/>
          <p:nvPr/>
        </p:nvSpPr>
        <p:spPr>
          <a:xfrm>
            <a:off x="640080" y="6309360"/>
            <a:ext cx="10911535" cy="9525"/>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40080" y="6419088"/>
            <a:ext cx="6400800" cy="228600"/>
          </a:xfrm>
          <a:prstGeom prst="rect">
            <a:avLst/>
          </a:prstGeom>
          <a:noFill/>
        </p:spPr>
        <p:txBody>
          <a:bodyPr wrap="square" anchor="t" lIns="0" rIns="0" tIns="0" bIns="0">
            <a:spAutoFit/>
          </a:bodyPr>
          <a:lstStyle/>
          <a:p>
            <a:pPr algn="l">
              <a:lnSpc>
                <a:spcPct val="115000"/>
              </a:lnSpc>
              <a:spcBef>
                <a:spcPts val="0"/>
              </a:spcBef>
              <a:spcAft>
                <a:spcPts val="500"/>
              </a:spcAft>
            </a:pPr>
            <a:r>
              <a:rPr sz="900" b="0">
                <a:solidFill>
                  <a:srgbClr val="6E7885"/>
                </a:solidFill>
                <a:latin typeface="Consolas"/>
              </a:rPr>
              <a:t>Evergreen — keeping step-by-step guides true after the software changes</a:t>
            </a:r>
          </a:p>
        </p:txBody>
      </p:sp>
      <p:sp>
        <p:nvSpPr>
          <p:cNvPr id="8" name="TextBox 7"/>
          <p:cNvSpPr txBox="1"/>
          <p:nvPr/>
        </p:nvSpPr>
        <p:spPr>
          <a:xfrm>
            <a:off x="10637215" y="6419088"/>
            <a:ext cx="914400" cy="228600"/>
          </a:xfrm>
          <a:prstGeom prst="rect">
            <a:avLst/>
          </a:prstGeom>
          <a:noFill/>
        </p:spPr>
        <p:txBody>
          <a:bodyPr wrap="square" anchor="t" lIns="0" rIns="0" tIns="0" bIns="0">
            <a:spAutoFit/>
          </a:bodyPr>
          <a:lstStyle/>
          <a:p>
            <a:pPr algn="r">
              <a:lnSpc>
                <a:spcPct val="115000"/>
              </a:lnSpc>
              <a:spcBef>
                <a:spcPts val="0"/>
              </a:spcBef>
              <a:spcAft>
                <a:spcPts val="500"/>
              </a:spcAft>
            </a:pPr>
            <a:r>
              <a:rPr sz="900" b="0">
                <a:solidFill>
                  <a:srgbClr val="6E7885"/>
                </a:solidFill>
                <a:latin typeface="Consolas"/>
              </a:rPr>
              <a:t>07</a:t>
            </a:r>
          </a:p>
        </p:txBody>
      </p:sp>
      <p:sp>
        <p:nvSpPr>
          <p:cNvPr id="9" name="Rectangle 8"/>
          <p:cNvSpPr/>
          <p:nvPr/>
        </p:nvSpPr>
        <p:spPr>
          <a:xfrm>
            <a:off x="640080" y="2048256"/>
            <a:ext cx="10911535" cy="758952"/>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40080" y="2048256"/>
            <a:ext cx="45720" cy="758952"/>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96112" y="2167128"/>
            <a:ext cx="3200400" cy="530352"/>
          </a:xfrm>
          <a:prstGeom prst="rect">
            <a:avLst/>
          </a:prstGeom>
          <a:noFill/>
        </p:spPr>
        <p:txBody>
          <a:bodyPr wrap="square" anchor="t" lIns="0" rIns="0" tIns="0" bIns="0">
            <a:spAutoFit/>
          </a:bodyPr>
          <a:lstStyle/>
          <a:p>
            <a:pPr algn="l">
              <a:lnSpc>
                <a:spcPct val="103000"/>
              </a:lnSpc>
              <a:spcBef>
                <a:spcPts val="0"/>
              </a:spcBef>
              <a:spcAft>
                <a:spcPts val="500"/>
              </a:spcAft>
            </a:pPr>
            <a:r>
              <a:rPr sz="1200" b="1">
                <a:solidFill>
                  <a:srgbClr val="14181F"/>
                </a:solidFill>
                <a:latin typeface="Calibri"/>
              </a:rPr>
              <a:t>A fixed cut-off does not work</a:t>
            </a:r>
          </a:p>
        </p:txBody>
      </p:sp>
      <p:sp>
        <p:nvSpPr>
          <p:cNvPr id="12" name="TextBox 11"/>
          <p:cNvSpPr txBox="1"/>
          <p:nvPr/>
        </p:nvSpPr>
        <p:spPr>
          <a:xfrm>
            <a:off x="4297680" y="2167128"/>
            <a:ext cx="4754880" cy="548640"/>
          </a:xfrm>
          <a:prstGeom prst="rect">
            <a:avLst/>
          </a:prstGeom>
          <a:noFill/>
        </p:spPr>
        <p:txBody>
          <a:bodyPr wrap="square" anchor="t" lIns="0" rIns="0" tIns="0" bIns="0">
            <a:spAutoFit/>
          </a:bodyPr>
          <a:lstStyle/>
          <a:p>
            <a:pPr algn="l">
              <a:lnSpc>
                <a:spcPct val="114000"/>
              </a:lnSpc>
              <a:spcBef>
                <a:spcPts val="0"/>
              </a:spcBef>
              <a:spcAft>
                <a:spcPts val="500"/>
              </a:spcAft>
            </a:pPr>
            <a:r>
              <a:rPr sz="1000" b="0">
                <a:solidFill>
                  <a:srgbClr val="454E5C"/>
                </a:solidFill>
                <a:latin typeface="Calibri"/>
              </a:rPr>
              <a:t>How much a screen must change before it counts is a property of the recording, not a constant. Settings tuned on one video find nothing in the next.</a:t>
            </a:r>
          </a:p>
        </p:txBody>
      </p:sp>
      <p:sp>
        <p:nvSpPr>
          <p:cNvPr id="13" name="TextBox 12"/>
          <p:cNvSpPr txBox="1"/>
          <p:nvPr/>
        </p:nvSpPr>
        <p:spPr>
          <a:xfrm>
            <a:off x="9281160" y="2167128"/>
            <a:ext cx="2468880" cy="548640"/>
          </a:xfrm>
          <a:prstGeom prst="rect">
            <a:avLst/>
          </a:prstGeom>
          <a:noFill/>
        </p:spPr>
        <p:txBody>
          <a:bodyPr wrap="square" anchor="t" lIns="0" rIns="0" tIns="0" bIns="0">
            <a:spAutoFit/>
          </a:bodyPr>
          <a:lstStyle/>
          <a:p>
            <a:pPr algn="l">
              <a:lnSpc>
                <a:spcPct val="114000"/>
              </a:lnSpc>
              <a:spcBef>
                <a:spcPts val="0"/>
              </a:spcBef>
              <a:spcAft>
                <a:spcPts val="500"/>
              </a:spcAft>
            </a:pPr>
            <a:r>
              <a:rPr sz="1000" b="1">
                <a:solidFill>
                  <a:srgbClr val="0F766E"/>
                </a:solidFill>
                <a:latin typeface="Calibri"/>
              </a:rPr>
              <a:t>Each recording learns its own baseline.</a:t>
            </a:r>
          </a:p>
        </p:txBody>
      </p:sp>
      <p:sp>
        <p:nvSpPr>
          <p:cNvPr id="14" name="Rectangle 13"/>
          <p:cNvSpPr/>
          <p:nvPr/>
        </p:nvSpPr>
        <p:spPr>
          <a:xfrm>
            <a:off x="640080" y="2889504"/>
            <a:ext cx="10911535" cy="758952"/>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40080" y="2889504"/>
            <a:ext cx="45720" cy="758952"/>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96112" y="3008376"/>
            <a:ext cx="3200400" cy="530352"/>
          </a:xfrm>
          <a:prstGeom prst="rect">
            <a:avLst/>
          </a:prstGeom>
          <a:noFill/>
        </p:spPr>
        <p:txBody>
          <a:bodyPr wrap="square" anchor="t" lIns="0" rIns="0" tIns="0" bIns="0">
            <a:spAutoFit/>
          </a:bodyPr>
          <a:lstStyle/>
          <a:p>
            <a:pPr algn="l">
              <a:lnSpc>
                <a:spcPct val="103000"/>
              </a:lnSpc>
              <a:spcBef>
                <a:spcPts val="0"/>
              </a:spcBef>
              <a:spcAft>
                <a:spcPts val="500"/>
              </a:spcAft>
            </a:pPr>
            <a:r>
              <a:rPr sz="1200" b="1">
                <a:solidFill>
                  <a:srgbClr val="14181F"/>
                </a:solidFill>
                <a:latin typeface="Calibri"/>
              </a:rPr>
              <a:t>One signal is not enough</a:t>
            </a:r>
          </a:p>
        </p:txBody>
      </p:sp>
      <p:sp>
        <p:nvSpPr>
          <p:cNvPr id="17" name="TextBox 16"/>
          <p:cNvSpPr txBox="1"/>
          <p:nvPr/>
        </p:nvSpPr>
        <p:spPr>
          <a:xfrm>
            <a:off x="4297680" y="3008376"/>
            <a:ext cx="4754880" cy="548640"/>
          </a:xfrm>
          <a:prstGeom prst="rect">
            <a:avLst/>
          </a:prstGeom>
          <a:noFill/>
        </p:spPr>
        <p:txBody>
          <a:bodyPr wrap="square" anchor="t" lIns="0" rIns="0" tIns="0" bIns="0">
            <a:spAutoFit/>
          </a:bodyPr>
          <a:lstStyle/>
          <a:p>
            <a:pPr algn="l">
              <a:lnSpc>
                <a:spcPct val="114000"/>
              </a:lnSpc>
              <a:spcBef>
                <a:spcPts val="0"/>
              </a:spcBef>
              <a:spcAft>
                <a:spcPts val="500"/>
              </a:spcAft>
            </a:pPr>
            <a:r>
              <a:rPr sz="1000" b="0">
                <a:solidFill>
                  <a:srgbClr val="454E5C"/>
                </a:solidFill>
                <a:latin typeface="Calibri"/>
              </a:rPr>
              <a:t>Two ways of comparing images fail in opposite situations — one misses a dialog on a plain page, the other misses a form being relabelled.</a:t>
            </a:r>
          </a:p>
        </p:txBody>
      </p:sp>
      <p:sp>
        <p:nvSpPr>
          <p:cNvPr id="18" name="TextBox 17"/>
          <p:cNvSpPr txBox="1"/>
          <p:nvPr/>
        </p:nvSpPr>
        <p:spPr>
          <a:xfrm>
            <a:off x="9281160" y="3008376"/>
            <a:ext cx="2468880" cy="548640"/>
          </a:xfrm>
          <a:prstGeom prst="rect">
            <a:avLst/>
          </a:prstGeom>
          <a:noFill/>
        </p:spPr>
        <p:txBody>
          <a:bodyPr wrap="square" anchor="t" lIns="0" rIns="0" tIns="0" bIns="0">
            <a:spAutoFit/>
          </a:bodyPr>
          <a:lstStyle/>
          <a:p>
            <a:pPr algn="l">
              <a:lnSpc>
                <a:spcPct val="114000"/>
              </a:lnSpc>
              <a:spcBef>
                <a:spcPts val="0"/>
              </a:spcBef>
              <a:spcAft>
                <a:spcPts val="500"/>
              </a:spcAft>
            </a:pPr>
            <a:r>
              <a:rPr sz="1000" b="1">
                <a:solidFill>
                  <a:srgbClr val="0F766E"/>
                </a:solidFill>
                <a:latin typeface="Calibri"/>
              </a:rPr>
              <a:t>Accept either, never require both.</a:t>
            </a:r>
          </a:p>
        </p:txBody>
      </p:sp>
      <p:sp>
        <p:nvSpPr>
          <p:cNvPr id="19" name="Rectangle 18"/>
          <p:cNvSpPr/>
          <p:nvPr/>
        </p:nvSpPr>
        <p:spPr>
          <a:xfrm>
            <a:off x="640080" y="3730752"/>
            <a:ext cx="10911535" cy="758952"/>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40080" y="3730752"/>
            <a:ext cx="45720" cy="758952"/>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96112" y="3849624"/>
            <a:ext cx="3200400" cy="530352"/>
          </a:xfrm>
          <a:prstGeom prst="rect">
            <a:avLst/>
          </a:prstGeom>
          <a:noFill/>
        </p:spPr>
        <p:txBody>
          <a:bodyPr wrap="square" anchor="t" lIns="0" rIns="0" tIns="0" bIns="0">
            <a:spAutoFit/>
          </a:bodyPr>
          <a:lstStyle/>
          <a:p>
            <a:pPr algn="l">
              <a:lnSpc>
                <a:spcPct val="103000"/>
              </a:lnSpc>
              <a:spcBef>
                <a:spcPts val="0"/>
              </a:spcBef>
              <a:spcAft>
                <a:spcPts val="500"/>
              </a:spcAft>
            </a:pPr>
            <a:r>
              <a:rPr sz="1200" b="1">
                <a:solidFill>
                  <a:srgbClr val="14181F"/>
                </a:solidFill>
                <a:latin typeface="Calibri"/>
              </a:rPr>
              <a:t>Image similarity cannot identify a screen</a:t>
            </a:r>
          </a:p>
        </p:txBody>
      </p:sp>
      <p:sp>
        <p:nvSpPr>
          <p:cNvPr id="22" name="TextBox 21"/>
          <p:cNvSpPr txBox="1"/>
          <p:nvPr/>
        </p:nvSpPr>
        <p:spPr>
          <a:xfrm>
            <a:off x="4297680" y="3849624"/>
            <a:ext cx="4754880" cy="548640"/>
          </a:xfrm>
          <a:prstGeom prst="rect">
            <a:avLst/>
          </a:prstGeom>
          <a:noFill/>
        </p:spPr>
        <p:txBody>
          <a:bodyPr wrap="square" anchor="t" lIns="0" rIns="0" tIns="0" bIns="0">
            <a:spAutoFit/>
          </a:bodyPr>
          <a:lstStyle/>
          <a:p>
            <a:pPr algn="l">
              <a:lnSpc>
                <a:spcPct val="114000"/>
              </a:lnSpc>
              <a:spcBef>
                <a:spcPts val="0"/>
              </a:spcBef>
              <a:spcAft>
                <a:spcPts val="500"/>
              </a:spcAft>
            </a:pPr>
            <a:r>
              <a:rPr sz="1000" b="0">
                <a:solidFill>
                  <a:srgbClr val="454E5C"/>
                </a:solidFill>
                <a:latin typeface="Calibri"/>
              </a:rPr>
              <a:t>Two genuinely different screens that share a layout look more alike than a true copy does. Comparing at higher resolution makes it worse, not better.</a:t>
            </a:r>
          </a:p>
        </p:txBody>
      </p:sp>
      <p:sp>
        <p:nvSpPr>
          <p:cNvPr id="23" name="TextBox 22"/>
          <p:cNvSpPr txBox="1"/>
          <p:nvPr/>
        </p:nvSpPr>
        <p:spPr>
          <a:xfrm>
            <a:off x="9281160" y="3849624"/>
            <a:ext cx="2468880" cy="548640"/>
          </a:xfrm>
          <a:prstGeom prst="rect">
            <a:avLst/>
          </a:prstGeom>
          <a:noFill/>
        </p:spPr>
        <p:txBody>
          <a:bodyPr wrap="square" anchor="t" lIns="0" rIns="0" tIns="0" bIns="0">
            <a:spAutoFit/>
          </a:bodyPr>
          <a:lstStyle/>
          <a:p>
            <a:pPr algn="l">
              <a:lnSpc>
                <a:spcPct val="114000"/>
              </a:lnSpc>
              <a:spcBef>
                <a:spcPts val="0"/>
              </a:spcBef>
              <a:spcAft>
                <a:spcPts val="500"/>
              </a:spcAft>
            </a:pPr>
            <a:r>
              <a:rPr sz="1000" b="1">
                <a:solidFill>
                  <a:srgbClr val="0F766E"/>
                </a:solidFill>
                <a:latin typeface="Calibri"/>
              </a:rPr>
              <a:t>Compare only where the text and lines are.</a:t>
            </a:r>
          </a:p>
        </p:txBody>
      </p:sp>
      <p:sp>
        <p:nvSpPr>
          <p:cNvPr id="24" name="Rectangle 23"/>
          <p:cNvSpPr/>
          <p:nvPr/>
        </p:nvSpPr>
        <p:spPr>
          <a:xfrm>
            <a:off x="640080" y="4572000"/>
            <a:ext cx="10911535" cy="758952"/>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40080" y="4572000"/>
            <a:ext cx="45720" cy="758952"/>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96112" y="4690872"/>
            <a:ext cx="3200400" cy="530352"/>
          </a:xfrm>
          <a:prstGeom prst="rect">
            <a:avLst/>
          </a:prstGeom>
          <a:noFill/>
        </p:spPr>
        <p:txBody>
          <a:bodyPr wrap="square" anchor="t" lIns="0" rIns="0" tIns="0" bIns="0">
            <a:spAutoFit/>
          </a:bodyPr>
          <a:lstStyle/>
          <a:p>
            <a:pPr algn="l">
              <a:lnSpc>
                <a:spcPct val="103000"/>
              </a:lnSpc>
              <a:spcBef>
                <a:spcPts val="0"/>
              </a:spcBef>
              <a:spcAft>
                <a:spcPts val="500"/>
              </a:spcAft>
            </a:pPr>
            <a:r>
              <a:rPr sz="1200" b="1">
                <a:solidFill>
                  <a:srgbClr val="14181F"/>
                </a:solidFill>
                <a:latin typeface="Calibri"/>
              </a:rPr>
              <a:t>Never use a change as proof of identity</a:t>
            </a:r>
          </a:p>
        </p:txBody>
      </p:sp>
      <p:sp>
        <p:nvSpPr>
          <p:cNvPr id="27" name="TextBox 26"/>
          <p:cNvSpPr txBox="1"/>
          <p:nvPr/>
        </p:nvSpPr>
        <p:spPr>
          <a:xfrm>
            <a:off x="4297680" y="4690872"/>
            <a:ext cx="4754880" cy="548640"/>
          </a:xfrm>
          <a:prstGeom prst="rect">
            <a:avLst/>
          </a:prstGeom>
          <a:noFill/>
        </p:spPr>
        <p:txBody>
          <a:bodyPr wrap="square" anchor="t" lIns="0" rIns="0" tIns="0" bIns="0">
            <a:spAutoFit/>
          </a:bodyPr>
          <a:lstStyle/>
          <a:p>
            <a:pPr algn="l">
              <a:lnSpc>
                <a:spcPct val="114000"/>
              </a:lnSpc>
              <a:spcBef>
                <a:spcPts val="0"/>
              </a:spcBef>
              <a:spcAft>
                <a:spcPts val="500"/>
              </a:spcAft>
            </a:pPr>
            <a:r>
              <a:rPr sz="1000" b="0">
                <a:solidFill>
                  <a:srgbClr val="454E5C"/>
                </a:solidFill>
                <a:latin typeface="Calibri"/>
              </a:rPr>
              <a:t>The same mistake appeared four times, always with the same effect: the more a step had changed, the less likely it was recognised as the same step — exactly backwards for a tool whose job is to report changes.</a:t>
            </a:r>
          </a:p>
        </p:txBody>
      </p:sp>
      <p:sp>
        <p:nvSpPr>
          <p:cNvPr id="28" name="TextBox 27"/>
          <p:cNvSpPr txBox="1"/>
          <p:nvPr/>
        </p:nvSpPr>
        <p:spPr>
          <a:xfrm>
            <a:off x="9281160" y="4690872"/>
            <a:ext cx="2468880" cy="548640"/>
          </a:xfrm>
          <a:prstGeom prst="rect">
            <a:avLst/>
          </a:prstGeom>
          <a:noFill/>
        </p:spPr>
        <p:txBody>
          <a:bodyPr wrap="square" anchor="t" lIns="0" rIns="0" tIns="0" bIns="0">
            <a:spAutoFit/>
          </a:bodyPr>
          <a:lstStyle/>
          <a:p>
            <a:pPr algn="l">
              <a:lnSpc>
                <a:spcPct val="114000"/>
              </a:lnSpc>
              <a:spcBef>
                <a:spcPts val="0"/>
              </a:spcBef>
              <a:spcAft>
                <a:spcPts val="500"/>
              </a:spcAft>
            </a:pPr>
            <a:r>
              <a:rPr sz="1000" b="1">
                <a:solidFill>
                  <a:srgbClr val="0F766E"/>
                </a:solidFill>
                <a:latin typeface="Calibri"/>
              </a:rPr>
              <a:t>Separate what identifies a step from what changed about it.</a:t>
            </a:r>
          </a:p>
        </p:txBody>
      </p:sp>
      <p:sp>
        <p:nvSpPr>
          <p:cNvPr id="29" name="Rectangle 28"/>
          <p:cNvSpPr/>
          <p:nvPr/>
        </p:nvSpPr>
        <p:spPr>
          <a:xfrm>
            <a:off x="640080" y="5413248"/>
            <a:ext cx="10911535" cy="758952"/>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40080" y="5413248"/>
            <a:ext cx="45720" cy="758952"/>
          </a:xfrm>
          <a:prstGeom prst="rect">
            <a:avLst/>
          </a:prstGeom>
          <a:solidFill>
            <a:srgbClr val="BE4A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96112" y="5532120"/>
            <a:ext cx="3200400" cy="530352"/>
          </a:xfrm>
          <a:prstGeom prst="rect">
            <a:avLst/>
          </a:prstGeom>
          <a:noFill/>
        </p:spPr>
        <p:txBody>
          <a:bodyPr wrap="square" anchor="t" lIns="0" rIns="0" tIns="0" bIns="0">
            <a:spAutoFit/>
          </a:bodyPr>
          <a:lstStyle/>
          <a:p>
            <a:pPr algn="l">
              <a:lnSpc>
                <a:spcPct val="103000"/>
              </a:lnSpc>
              <a:spcBef>
                <a:spcPts val="0"/>
              </a:spcBef>
              <a:spcAft>
                <a:spcPts val="500"/>
              </a:spcAft>
            </a:pPr>
            <a:r>
              <a:rPr sz="1200" b="1">
                <a:solidFill>
                  <a:srgbClr val="14181F"/>
                </a:solidFill>
                <a:latin typeface="Calibri"/>
              </a:rPr>
              <a:t>Screen recordings lie about themselves</a:t>
            </a:r>
          </a:p>
        </p:txBody>
      </p:sp>
      <p:sp>
        <p:nvSpPr>
          <p:cNvPr id="32" name="TextBox 31"/>
          <p:cNvSpPr txBox="1"/>
          <p:nvPr/>
        </p:nvSpPr>
        <p:spPr>
          <a:xfrm>
            <a:off x="4297680" y="5532120"/>
            <a:ext cx="4754880" cy="548640"/>
          </a:xfrm>
          <a:prstGeom prst="rect">
            <a:avLst/>
          </a:prstGeom>
          <a:noFill/>
        </p:spPr>
        <p:txBody>
          <a:bodyPr wrap="square" anchor="t" lIns="0" rIns="0" tIns="0" bIns="0">
            <a:spAutoFit/>
          </a:bodyPr>
          <a:lstStyle/>
          <a:p>
            <a:pPr algn="l">
              <a:lnSpc>
                <a:spcPct val="114000"/>
              </a:lnSpc>
              <a:spcBef>
                <a:spcPts val="0"/>
              </a:spcBef>
              <a:spcAft>
                <a:spcPts val="500"/>
              </a:spcAft>
            </a:pPr>
            <a:r>
              <a:rPr sz="1000" b="0">
                <a:solidFill>
                  <a:srgbClr val="454E5C"/>
                </a:solidFill>
                <a:latin typeface="Calibri"/>
              </a:rPr>
              <a:t>Recorders write frame information that is simply wrong, and reading a video the obvious way silently produced a handful of frames from a long recording — with no error anywhere.</a:t>
            </a:r>
          </a:p>
        </p:txBody>
      </p:sp>
      <p:sp>
        <p:nvSpPr>
          <p:cNvPr id="33" name="TextBox 32"/>
          <p:cNvSpPr txBox="1"/>
          <p:nvPr/>
        </p:nvSpPr>
        <p:spPr>
          <a:xfrm>
            <a:off x="9281160" y="5532120"/>
            <a:ext cx="2468880" cy="548640"/>
          </a:xfrm>
          <a:prstGeom prst="rect">
            <a:avLst/>
          </a:prstGeom>
          <a:noFill/>
        </p:spPr>
        <p:txBody>
          <a:bodyPr wrap="square" anchor="t" lIns="0" rIns="0" tIns="0" bIns="0">
            <a:spAutoFit/>
          </a:bodyPr>
          <a:lstStyle/>
          <a:p>
            <a:pPr algn="l">
              <a:lnSpc>
                <a:spcPct val="114000"/>
              </a:lnSpc>
              <a:spcBef>
                <a:spcPts val="0"/>
              </a:spcBef>
              <a:spcAft>
                <a:spcPts val="500"/>
              </a:spcAft>
            </a:pPr>
            <a:r>
              <a:rPr sz="1000" b="1">
                <a:solidFill>
                  <a:srgbClr val="0F766E"/>
                </a:solidFill>
                <a:latin typeface="Calibri"/>
              </a:rPr>
              <a:t>Read the video through and trust nothing it claims.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640080"/>
            <a:ext cx="10911535" cy="219456"/>
          </a:xfrm>
          <a:prstGeom prst="rect">
            <a:avLst/>
          </a:prstGeom>
          <a:noFill/>
        </p:spPr>
        <p:txBody>
          <a:bodyPr wrap="square" anchor="t" lIns="0" rIns="0" tIns="0" bIns="0">
            <a:spAutoFit/>
          </a:bodyPr>
          <a:lstStyle/>
          <a:p>
            <a:pPr algn="l">
              <a:lnSpc>
                <a:spcPct val="115000"/>
              </a:lnSpc>
              <a:spcBef>
                <a:spcPts val="0"/>
              </a:spcBef>
              <a:spcAft>
                <a:spcPts val="500"/>
              </a:spcAft>
            </a:pPr>
            <a:r>
              <a:rPr sz="1050" b="1">
                <a:solidFill>
                  <a:srgbClr val="BE4A15"/>
                </a:solidFill>
                <a:latin typeface="Consolas"/>
              </a:rPr>
              <a:t>05</a:t>
            </a:r>
          </a:p>
        </p:txBody>
      </p:sp>
      <p:sp>
        <p:nvSpPr>
          <p:cNvPr id="4" name="TextBox 3"/>
          <p:cNvSpPr txBox="1"/>
          <p:nvPr/>
        </p:nvSpPr>
        <p:spPr>
          <a:xfrm>
            <a:off x="640080" y="914400"/>
            <a:ext cx="10911535" cy="548640"/>
          </a:xfrm>
          <a:prstGeom prst="rect">
            <a:avLst/>
          </a:prstGeom>
          <a:noFill/>
        </p:spPr>
        <p:txBody>
          <a:bodyPr wrap="square" anchor="t" lIns="0" rIns="0" tIns="0" bIns="0">
            <a:spAutoFit/>
          </a:bodyPr>
          <a:lstStyle/>
          <a:p>
            <a:pPr algn="l">
              <a:lnSpc>
                <a:spcPct val="95000"/>
              </a:lnSpc>
              <a:spcBef>
                <a:spcPts val="0"/>
              </a:spcBef>
              <a:spcAft>
                <a:spcPts val="500"/>
              </a:spcAft>
            </a:pPr>
            <a:r>
              <a:rPr sz="3100" b="1">
                <a:solidFill>
                  <a:srgbClr val="14181F"/>
                </a:solidFill>
                <a:latin typeface="Calibri"/>
              </a:rPr>
              <a:t>Dependencies, install and use</a:t>
            </a:r>
          </a:p>
        </p:txBody>
      </p:sp>
      <p:sp>
        <p:nvSpPr>
          <p:cNvPr id="5" name="Rectangle 4"/>
          <p:cNvSpPr/>
          <p:nvPr/>
        </p:nvSpPr>
        <p:spPr>
          <a:xfrm>
            <a:off x="640080" y="6309360"/>
            <a:ext cx="10911535" cy="9525"/>
          </a:xfrm>
          <a:prstGeom prst="rect">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40080" y="6419088"/>
            <a:ext cx="6400800" cy="228600"/>
          </a:xfrm>
          <a:prstGeom prst="rect">
            <a:avLst/>
          </a:prstGeom>
          <a:noFill/>
        </p:spPr>
        <p:txBody>
          <a:bodyPr wrap="square" anchor="t" lIns="0" rIns="0" tIns="0" bIns="0">
            <a:spAutoFit/>
          </a:bodyPr>
          <a:lstStyle/>
          <a:p>
            <a:pPr algn="l">
              <a:lnSpc>
                <a:spcPct val="115000"/>
              </a:lnSpc>
              <a:spcBef>
                <a:spcPts val="0"/>
              </a:spcBef>
              <a:spcAft>
                <a:spcPts val="500"/>
              </a:spcAft>
            </a:pPr>
            <a:r>
              <a:rPr sz="900" b="0">
                <a:solidFill>
                  <a:srgbClr val="6E7885"/>
                </a:solidFill>
                <a:latin typeface="Consolas"/>
              </a:rPr>
              <a:t>Evergreen — keeping step-by-step guides true after the software changes</a:t>
            </a:r>
          </a:p>
        </p:txBody>
      </p:sp>
      <p:sp>
        <p:nvSpPr>
          <p:cNvPr id="7" name="TextBox 6"/>
          <p:cNvSpPr txBox="1"/>
          <p:nvPr/>
        </p:nvSpPr>
        <p:spPr>
          <a:xfrm>
            <a:off x="10637215" y="6419088"/>
            <a:ext cx="914400" cy="228600"/>
          </a:xfrm>
          <a:prstGeom prst="rect">
            <a:avLst/>
          </a:prstGeom>
          <a:noFill/>
        </p:spPr>
        <p:txBody>
          <a:bodyPr wrap="square" anchor="t" lIns="0" rIns="0" tIns="0" bIns="0">
            <a:spAutoFit/>
          </a:bodyPr>
          <a:lstStyle/>
          <a:p>
            <a:pPr algn="r">
              <a:lnSpc>
                <a:spcPct val="115000"/>
              </a:lnSpc>
              <a:spcBef>
                <a:spcPts val="0"/>
              </a:spcBef>
              <a:spcAft>
                <a:spcPts val="500"/>
              </a:spcAft>
            </a:pPr>
            <a:r>
              <a:rPr sz="900" b="0">
                <a:solidFill>
                  <a:srgbClr val="6E7885"/>
                </a:solidFill>
                <a:latin typeface="Consolas"/>
              </a:rPr>
              <a:t>08</a:t>
            </a:r>
          </a:p>
        </p:txBody>
      </p:sp>
      <p:sp>
        <p:nvSpPr>
          <p:cNvPr id="8" name="TextBox 7"/>
          <p:cNvSpPr txBox="1"/>
          <p:nvPr/>
        </p:nvSpPr>
        <p:spPr>
          <a:xfrm>
            <a:off x="640080" y="1572768"/>
            <a:ext cx="5394960" cy="274320"/>
          </a:xfrm>
          <a:prstGeom prst="rect">
            <a:avLst/>
          </a:prstGeom>
          <a:noFill/>
        </p:spPr>
        <p:txBody>
          <a:bodyPr wrap="square" anchor="t" lIns="0" rIns="0" tIns="0" bIns="0">
            <a:spAutoFit/>
          </a:bodyPr>
          <a:lstStyle/>
          <a:p>
            <a:pPr algn="l">
              <a:lnSpc>
                <a:spcPct val="115000"/>
              </a:lnSpc>
              <a:spcBef>
                <a:spcPts val="0"/>
              </a:spcBef>
              <a:spcAft>
                <a:spcPts val="500"/>
              </a:spcAft>
            </a:pPr>
            <a:r>
              <a:rPr sz="1500" b="1">
                <a:solidFill>
                  <a:srgbClr val="14181F"/>
                </a:solidFill>
                <a:latin typeface="Calibri"/>
              </a:rPr>
              <a:t>What it is built on</a:t>
            </a:r>
          </a:p>
        </p:txBody>
      </p:sp>
      <p:sp>
        <p:nvSpPr>
          <p:cNvPr id="9" name="Rectangle 8"/>
          <p:cNvSpPr/>
          <p:nvPr/>
        </p:nvSpPr>
        <p:spPr>
          <a:xfrm>
            <a:off x="640080" y="1956816"/>
            <a:ext cx="5394960" cy="411480"/>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2057400"/>
            <a:ext cx="1234440" cy="219456"/>
          </a:xfrm>
          <a:prstGeom prst="rect">
            <a:avLst/>
          </a:prstGeom>
          <a:noFill/>
        </p:spPr>
        <p:txBody>
          <a:bodyPr wrap="square" anchor="t" lIns="0" rIns="0" tIns="0" bIns="0">
            <a:spAutoFit/>
          </a:bodyPr>
          <a:lstStyle/>
          <a:p>
            <a:pPr algn="l">
              <a:lnSpc>
                <a:spcPct val="115000"/>
              </a:lnSpc>
              <a:spcBef>
                <a:spcPts val="0"/>
              </a:spcBef>
              <a:spcAft>
                <a:spcPts val="500"/>
              </a:spcAft>
            </a:pPr>
            <a:r>
              <a:rPr sz="1050" b="1">
                <a:solidFill>
                  <a:srgbClr val="6E7885"/>
                </a:solidFill>
                <a:latin typeface="Consolas"/>
              </a:rPr>
              <a:t>Backend</a:t>
            </a:r>
          </a:p>
        </p:txBody>
      </p:sp>
      <p:sp>
        <p:nvSpPr>
          <p:cNvPr id="11" name="TextBox 10"/>
          <p:cNvSpPr txBox="1"/>
          <p:nvPr/>
        </p:nvSpPr>
        <p:spPr>
          <a:xfrm>
            <a:off x="2176272" y="2048256"/>
            <a:ext cx="3703320" cy="274320"/>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Python with FastAPI</a:t>
            </a:r>
          </a:p>
        </p:txBody>
      </p:sp>
      <p:sp>
        <p:nvSpPr>
          <p:cNvPr id="12" name="Rectangle 11"/>
          <p:cNvSpPr/>
          <p:nvPr/>
        </p:nvSpPr>
        <p:spPr>
          <a:xfrm>
            <a:off x="640080" y="2423160"/>
            <a:ext cx="5394960" cy="411480"/>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22960" y="2523744"/>
            <a:ext cx="1234440" cy="219456"/>
          </a:xfrm>
          <a:prstGeom prst="rect">
            <a:avLst/>
          </a:prstGeom>
          <a:noFill/>
        </p:spPr>
        <p:txBody>
          <a:bodyPr wrap="square" anchor="t" lIns="0" rIns="0" tIns="0" bIns="0">
            <a:spAutoFit/>
          </a:bodyPr>
          <a:lstStyle/>
          <a:p>
            <a:pPr algn="l">
              <a:lnSpc>
                <a:spcPct val="115000"/>
              </a:lnSpc>
              <a:spcBef>
                <a:spcPts val="0"/>
              </a:spcBef>
              <a:spcAft>
                <a:spcPts val="500"/>
              </a:spcAft>
            </a:pPr>
            <a:r>
              <a:rPr sz="1050" b="1">
                <a:solidFill>
                  <a:srgbClr val="6E7885"/>
                </a:solidFill>
                <a:latin typeface="Consolas"/>
              </a:rPr>
              <a:t>Frontend</a:t>
            </a:r>
          </a:p>
        </p:txBody>
      </p:sp>
      <p:sp>
        <p:nvSpPr>
          <p:cNvPr id="14" name="TextBox 13"/>
          <p:cNvSpPr txBox="1"/>
          <p:nvPr/>
        </p:nvSpPr>
        <p:spPr>
          <a:xfrm>
            <a:off x="2176272" y="2514600"/>
            <a:ext cx="3703320" cy="274320"/>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React and TypeScript, with a structured editor</a:t>
            </a:r>
          </a:p>
        </p:txBody>
      </p:sp>
      <p:sp>
        <p:nvSpPr>
          <p:cNvPr id="15" name="Rectangle 14"/>
          <p:cNvSpPr/>
          <p:nvPr/>
        </p:nvSpPr>
        <p:spPr>
          <a:xfrm>
            <a:off x="640080" y="2889504"/>
            <a:ext cx="5394960" cy="411480"/>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22960" y="2990088"/>
            <a:ext cx="1234440" cy="219456"/>
          </a:xfrm>
          <a:prstGeom prst="rect">
            <a:avLst/>
          </a:prstGeom>
          <a:noFill/>
        </p:spPr>
        <p:txBody>
          <a:bodyPr wrap="square" anchor="t" lIns="0" rIns="0" tIns="0" bIns="0">
            <a:spAutoFit/>
          </a:bodyPr>
          <a:lstStyle/>
          <a:p>
            <a:pPr algn="l">
              <a:lnSpc>
                <a:spcPct val="115000"/>
              </a:lnSpc>
              <a:spcBef>
                <a:spcPts val="0"/>
              </a:spcBef>
              <a:spcAft>
                <a:spcPts val="500"/>
              </a:spcAft>
            </a:pPr>
            <a:r>
              <a:rPr sz="1050" b="1">
                <a:solidFill>
                  <a:srgbClr val="6E7885"/>
                </a:solidFill>
                <a:latin typeface="Consolas"/>
              </a:rPr>
              <a:t>Video</a:t>
            </a:r>
          </a:p>
        </p:txBody>
      </p:sp>
      <p:sp>
        <p:nvSpPr>
          <p:cNvPr id="17" name="TextBox 16"/>
          <p:cNvSpPr txBox="1"/>
          <p:nvPr/>
        </p:nvSpPr>
        <p:spPr>
          <a:xfrm>
            <a:off x="2176272" y="2980944"/>
            <a:ext cx="3703320" cy="274320"/>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OpenCV — reading the video and comparing frames</a:t>
            </a:r>
          </a:p>
        </p:txBody>
      </p:sp>
      <p:sp>
        <p:nvSpPr>
          <p:cNvPr id="18" name="Rectangle 17"/>
          <p:cNvSpPr/>
          <p:nvPr/>
        </p:nvSpPr>
        <p:spPr>
          <a:xfrm>
            <a:off x="640080" y="3355848"/>
            <a:ext cx="5394960" cy="411480"/>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960" y="3456432"/>
            <a:ext cx="1234440" cy="219456"/>
          </a:xfrm>
          <a:prstGeom prst="rect">
            <a:avLst/>
          </a:prstGeom>
          <a:noFill/>
        </p:spPr>
        <p:txBody>
          <a:bodyPr wrap="square" anchor="t" lIns="0" rIns="0" tIns="0" bIns="0">
            <a:spAutoFit/>
          </a:bodyPr>
          <a:lstStyle/>
          <a:p>
            <a:pPr algn="l">
              <a:lnSpc>
                <a:spcPct val="115000"/>
              </a:lnSpc>
              <a:spcBef>
                <a:spcPts val="0"/>
              </a:spcBef>
              <a:spcAft>
                <a:spcPts val="500"/>
              </a:spcAft>
            </a:pPr>
            <a:r>
              <a:rPr sz="1050" b="1">
                <a:solidFill>
                  <a:srgbClr val="6E7885"/>
                </a:solidFill>
                <a:latin typeface="Consolas"/>
              </a:rPr>
              <a:t>Audio</a:t>
            </a:r>
          </a:p>
        </p:txBody>
      </p:sp>
      <p:sp>
        <p:nvSpPr>
          <p:cNvPr id="20" name="TextBox 19"/>
          <p:cNvSpPr txBox="1"/>
          <p:nvPr/>
        </p:nvSpPr>
        <p:spPr>
          <a:xfrm>
            <a:off x="2176272" y="3447288"/>
            <a:ext cx="3703320" cy="274320"/>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ffmpeg — pulling the sound out, nothing else</a:t>
            </a:r>
          </a:p>
        </p:txBody>
      </p:sp>
      <p:sp>
        <p:nvSpPr>
          <p:cNvPr id="21" name="Rectangle 20"/>
          <p:cNvSpPr/>
          <p:nvPr/>
        </p:nvSpPr>
        <p:spPr>
          <a:xfrm>
            <a:off x="640080" y="3822192"/>
            <a:ext cx="5394960" cy="411480"/>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22960" y="3922776"/>
            <a:ext cx="1234440" cy="219456"/>
          </a:xfrm>
          <a:prstGeom prst="rect">
            <a:avLst/>
          </a:prstGeom>
          <a:noFill/>
        </p:spPr>
        <p:txBody>
          <a:bodyPr wrap="square" anchor="t" lIns="0" rIns="0" tIns="0" bIns="0">
            <a:spAutoFit/>
          </a:bodyPr>
          <a:lstStyle/>
          <a:p>
            <a:pPr algn="l">
              <a:lnSpc>
                <a:spcPct val="115000"/>
              </a:lnSpc>
              <a:spcBef>
                <a:spcPts val="0"/>
              </a:spcBef>
              <a:spcAft>
                <a:spcPts val="500"/>
              </a:spcAft>
            </a:pPr>
            <a:r>
              <a:rPr sz="1050" b="1">
                <a:solidFill>
                  <a:srgbClr val="6E7885"/>
                </a:solidFill>
                <a:latin typeface="Consolas"/>
              </a:rPr>
              <a:t>Speech</a:t>
            </a:r>
          </a:p>
        </p:txBody>
      </p:sp>
      <p:sp>
        <p:nvSpPr>
          <p:cNvPr id="23" name="TextBox 22"/>
          <p:cNvSpPr txBox="1"/>
          <p:nvPr/>
        </p:nvSpPr>
        <p:spPr>
          <a:xfrm>
            <a:off x="2176272" y="3913632"/>
            <a:ext cx="3703320" cy="274320"/>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Whisper, running on this machine. No service, no upload.</a:t>
            </a:r>
          </a:p>
        </p:txBody>
      </p:sp>
      <p:sp>
        <p:nvSpPr>
          <p:cNvPr id="24" name="Rectangle 23"/>
          <p:cNvSpPr/>
          <p:nvPr/>
        </p:nvSpPr>
        <p:spPr>
          <a:xfrm>
            <a:off x="640080" y="4288536"/>
            <a:ext cx="5394960" cy="411480"/>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22960" y="4389120"/>
            <a:ext cx="1234440" cy="219456"/>
          </a:xfrm>
          <a:prstGeom prst="rect">
            <a:avLst/>
          </a:prstGeom>
          <a:noFill/>
        </p:spPr>
        <p:txBody>
          <a:bodyPr wrap="square" anchor="t" lIns="0" rIns="0" tIns="0" bIns="0">
            <a:spAutoFit/>
          </a:bodyPr>
          <a:lstStyle/>
          <a:p>
            <a:pPr algn="l">
              <a:lnSpc>
                <a:spcPct val="115000"/>
              </a:lnSpc>
              <a:spcBef>
                <a:spcPts val="0"/>
              </a:spcBef>
              <a:spcAft>
                <a:spcPts val="500"/>
              </a:spcAft>
            </a:pPr>
            <a:r>
              <a:rPr sz="1050" b="1">
                <a:solidFill>
                  <a:srgbClr val="6E7885"/>
                </a:solidFill>
                <a:latin typeface="Consolas"/>
              </a:rPr>
              <a:t>Comparison</a:t>
            </a:r>
          </a:p>
        </p:txBody>
      </p:sp>
      <p:sp>
        <p:nvSpPr>
          <p:cNvPr id="26" name="TextBox 25"/>
          <p:cNvSpPr txBox="1"/>
          <p:nvPr/>
        </p:nvSpPr>
        <p:spPr>
          <a:xfrm>
            <a:off x="2176272" y="4379976"/>
            <a:ext cx="3703320" cy="274320"/>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Sentence embeddings, also local</a:t>
            </a:r>
          </a:p>
        </p:txBody>
      </p:sp>
      <p:sp>
        <p:nvSpPr>
          <p:cNvPr id="27" name="Rectangle 26"/>
          <p:cNvSpPr/>
          <p:nvPr/>
        </p:nvSpPr>
        <p:spPr>
          <a:xfrm>
            <a:off x="640080" y="4754880"/>
            <a:ext cx="5394960" cy="411480"/>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22960" y="4855464"/>
            <a:ext cx="1234440" cy="219456"/>
          </a:xfrm>
          <a:prstGeom prst="rect">
            <a:avLst/>
          </a:prstGeom>
          <a:noFill/>
        </p:spPr>
        <p:txBody>
          <a:bodyPr wrap="square" anchor="t" lIns="0" rIns="0" tIns="0" bIns="0">
            <a:spAutoFit/>
          </a:bodyPr>
          <a:lstStyle/>
          <a:p>
            <a:pPr algn="l">
              <a:lnSpc>
                <a:spcPct val="115000"/>
              </a:lnSpc>
              <a:spcBef>
                <a:spcPts val="0"/>
              </a:spcBef>
              <a:spcAft>
                <a:spcPts val="500"/>
              </a:spcAft>
            </a:pPr>
            <a:r>
              <a:rPr sz="1050" b="1">
                <a:solidFill>
                  <a:srgbClr val="6E7885"/>
                </a:solidFill>
                <a:latin typeface="Consolas"/>
              </a:rPr>
              <a:t>Storage</a:t>
            </a:r>
          </a:p>
        </p:txBody>
      </p:sp>
      <p:sp>
        <p:nvSpPr>
          <p:cNvPr id="29" name="TextBox 28"/>
          <p:cNvSpPr txBox="1"/>
          <p:nvPr/>
        </p:nvSpPr>
        <p:spPr>
          <a:xfrm>
            <a:off x="2176272" y="4846320"/>
            <a:ext cx="3703320" cy="274320"/>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SQLite and ordinary files on disk</a:t>
            </a:r>
          </a:p>
        </p:txBody>
      </p:sp>
      <p:sp>
        <p:nvSpPr>
          <p:cNvPr id="30" name="Rectangle 29"/>
          <p:cNvSpPr/>
          <p:nvPr/>
        </p:nvSpPr>
        <p:spPr>
          <a:xfrm>
            <a:off x="640080" y="5221224"/>
            <a:ext cx="5394960" cy="411480"/>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22960" y="5321808"/>
            <a:ext cx="1234440" cy="219456"/>
          </a:xfrm>
          <a:prstGeom prst="rect">
            <a:avLst/>
          </a:prstGeom>
          <a:noFill/>
        </p:spPr>
        <p:txBody>
          <a:bodyPr wrap="square" anchor="t" lIns="0" rIns="0" tIns="0" bIns="0">
            <a:spAutoFit/>
          </a:bodyPr>
          <a:lstStyle/>
          <a:p>
            <a:pPr algn="l">
              <a:lnSpc>
                <a:spcPct val="115000"/>
              </a:lnSpc>
              <a:spcBef>
                <a:spcPts val="0"/>
              </a:spcBef>
              <a:spcAft>
                <a:spcPts val="500"/>
              </a:spcAft>
            </a:pPr>
            <a:r>
              <a:rPr sz="1050" b="1">
                <a:solidFill>
                  <a:srgbClr val="6E7885"/>
                </a:solidFill>
                <a:latin typeface="Consolas"/>
              </a:rPr>
              <a:t>Model</a:t>
            </a:r>
          </a:p>
        </p:txBody>
      </p:sp>
      <p:sp>
        <p:nvSpPr>
          <p:cNvPr id="32" name="TextBox 31"/>
          <p:cNvSpPr txBox="1"/>
          <p:nvPr/>
        </p:nvSpPr>
        <p:spPr>
          <a:xfrm>
            <a:off x="2176272" y="5312664"/>
            <a:ext cx="3703320" cy="274320"/>
          </a:xfrm>
          <a:prstGeom prst="rect">
            <a:avLst/>
          </a:prstGeom>
          <a:noFill/>
        </p:spPr>
        <p:txBody>
          <a:bodyPr wrap="square" anchor="t" lIns="0" rIns="0" tIns="0" bIns="0">
            <a:spAutoFit/>
          </a:bodyPr>
          <a:lstStyle/>
          <a:p>
            <a:pPr algn="l">
              <a:lnSpc>
                <a:spcPct val="115000"/>
              </a:lnSpc>
              <a:spcBef>
                <a:spcPts val="0"/>
              </a:spcBef>
              <a:spcAft>
                <a:spcPts val="500"/>
              </a:spcAft>
            </a:pPr>
            <a:r>
              <a:rPr sz="1100" b="0">
                <a:solidFill>
                  <a:srgbClr val="454E5C"/>
                </a:solidFill>
                <a:latin typeface="Calibri"/>
              </a:rPr>
              <a:t>One vendor at a time, chosen in a config file</a:t>
            </a:r>
          </a:p>
        </p:txBody>
      </p:sp>
      <p:sp>
        <p:nvSpPr>
          <p:cNvPr id="33" name="TextBox 32"/>
          <p:cNvSpPr txBox="1"/>
          <p:nvPr/>
        </p:nvSpPr>
        <p:spPr>
          <a:xfrm>
            <a:off x="6446520" y="1572768"/>
            <a:ext cx="5120640" cy="274320"/>
          </a:xfrm>
          <a:prstGeom prst="rect">
            <a:avLst/>
          </a:prstGeom>
          <a:noFill/>
        </p:spPr>
        <p:txBody>
          <a:bodyPr wrap="square" anchor="t" lIns="0" rIns="0" tIns="0" bIns="0">
            <a:spAutoFit/>
          </a:bodyPr>
          <a:lstStyle/>
          <a:p>
            <a:pPr algn="l">
              <a:lnSpc>
                <a:spcPct val="115000"/>
              </a:lnSpc>
              <a:spcBef>
                <a:spcPts val="0"/>
              </a:spcBef>
              <a:spcAft>
                <a:spcPts val="500"/>
              </a:spcAft>
            </a:pPr>
            <a:r>
              <a:rPr sz="1500" b="1">
                <a:solidFill>
                  <a:srgbClr val="14181F"/>
                </a:solidFill>
                <a:latin typeface="Calibri"/>
              </a:rPr>
              <a:t>Installing and running it</a:t>
            </a:r>
          </a:p>
        </p:txBody>
      </p:sp>
      <p:sp>
        <p:nvSpPr>
          <p:cNvPr id="34" name="TextBox 33"/>
          <p:cNvSpPr txBox="1"/>
          <p:nvPr/>
        </p:nvSpPr>
        <p:spPr>
          <a:xfrm>
            <a:off x="6446520" y="1956816"/>
            <a:ext cx="5120640" cy="182880"/>
          </a:xfrm>
          <a:prstGeom prst="rect">
            <a:avLst/>
          </a:prstGeom>
          <a:noFill/>
        </p:spPr>
        <p:txBody>
          <a:bodyPr wrap="square" anchor="t" lIns="0" rIns="0" tIns="0" bIns="0">
            <a:spAutoFit/>
          </a:bodyPr>
          <a:lstStyle/>
          <a:p>
            <a:pPr algn="l">
              <a:lnSpc>
                <a:spcPct val="115000"/>
              </a:lnSpc>
              <a:spcBef>
                <a:spcPts val="0"/>
              </a:spcBef>
              <a:spcAft>
                <a:spcPts val="500"/>
              </a:spcAft>
            </a:pPr>
            <a:r>
              <a:rPr sz="850" b="1">
                <a:solidFill>
                  <a:srgbClr val="BE4A15"/>
                </a:solidFill>
                <a:latin typeface="Consolas"/>
              </a:rPr>
              <a:t>INSTALL</a:t>
            </a:r>
          </a:p>
        </p:txBody>
      </p:sp>
      <p:sp>
        <p:nvSpPr>
          <p:cNvPr id="35" name="Rectangle 34"/>
          <p:cNvSpPr/>
          <p:nvPr/>
        </p:nvSpPr>
        <p:spPr>
          <a:xfrm>
            <a:off x="6446520" y="2139696"/>
            <a:ext cx="5120640" cy="726947"/>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583680" y="2212848"/>
            <a:ext cx="4846320" cy="726947"/>
          </a:xfrm>
          <a:prstGeom prst="rect">
            <a:avLst/>
          </a:prstGeom>
          <a:noFill/>
        </p:spPr>
        <p:txBody>
          <a:bodyPr wrap="square" anchor="t" lIns="0" rIns="0" tIns="0" bIns="0">
            <a:spAutoFit/>
          </a:bodyPr>
          <a:lstStyle/>
          <a:p>
            <a:pPr algn="l">
              <a:lnSpc>
                <a:spcPct val="122000"/>
              </a:lnSpc>
              <a:spcBef>
                <a:spcPts val="0"/>
              </a:spcBef>
              <a:spcAft>
                <a:spcPts val="0"/>
              </a:spcAft>
            </a:pPr>
            <a:r>
              <a:rPr sz="950" b="0">
                <a:solidFill>
                  <a:srgbClr val="454E5C"/>
                </a:solidFill>
                <a:latin typeface="Consolas"/>
              </a:rPr>
              <a:t>python -m venv .venv &amp;&amp; source .venv/bin/activate
pip install -r server/requirements.txt
cd client &amp;&amp; npm install</a:t>
            </a:r>
          </a:p>
        </p:txBody>
      </p:sp>
      <p:sp>
        <p:nvSpPr>
          <p:cNvPr id="37" name="TextBox 36"/>
          <p:cNvSpPr txBox="1"/>
          <p:nvPr/>
        </p:nvSpPr>
        <p:spPr>
          <a:xfrm>
            <a:off x="6446520" y="2958083"/>
            <a:ext cx="5120640" cy="182880"/>
          </a:xfrm>
          <a:prstGeom prst="rect">
            <a:avLst/>
          </a:prstGeom>
          <a:noFill/>
        </p:spPr>
        <p:txBody>
          <a:bodyPr wrap="square" anchor="t" lIns="0" rIns="0" tIns="0" bIns="0">
            <a:spAutoFit/>
          </a:bodyPr>
          <a:lstStyle/>
          <a:p>
            <a:pPr algn="l">
              <a:lnSpc>
                <a:spcPct val="115000"/>
              </a:lnSpc>
              <a:spcBef>
                <a:spcPts val="0"/>
              </a:spcBef>
              <a:spcAft>
                <a:spcPts val="500"/>
              </a:spcAft>
            </a:pPr>
            <a:r>
              <a:rPr sz="850" b="1">
                <a:solidFill>
                  <a:srgbClr val="BE4A15"/>
                </a:solidFill>
                <a:latin typeface="Consolas"/>
              </a:rPr>
              <a:t>CHECK THE MACHINE, THEN PROVE IT WORKS</a:t>
            </a:r>
          </a:p>
        </p:txBody>
      </p:sp>
      <p:sp>
        <p:nvSpPr>
          <p:cNvPr id="38" name="Rectangle 37"/>
          <p:cNvSpPr/>
          <p:nvPr/>
        </p:nvSpPr>
        <p:spPr>
          <a:xfrm>
            <a:off x="6446520" y="3140963"/>
            <a:ext cx="5120640" cy="557784"/>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583680" y="3214115"/>
            <a:ext cx="4846320" cy="557784"/>
          </a:xfrm>
          <a:prstGeom prst="rect">
            <a:avLst/>
          </a:prstGeom>
          <a:noFill/>
        </p:spPr>
        <p:txBody>
          <a:bodyPr wrap="square" anchor="t" lIns="0" rIns="0" tIns="0" bIns="0">
            <a:spAutoFit/>
          </a:bodyPr>
          <a:lstStyle/>
          <a:p>
            <a:pPr algn="l">
              <a:lnSpc>
                <a:spcPct val="122000"/>
              </a:lnSpc>
              <a:spcBef>
                <a:spcPts val="0"/>
              </a:spcBef>
              <a:spcAft>
                <a:spcPts val="0"/>
              </a:spcAft>
            </a:pPr>
            <a:r>
              <a:rPr sz="950" b="0">
                <a:solidFill>
                  <a:srgbClr val="454E5C"/>
                </a:solidFill>
                <a:latin typeface="Consolas"/>
              </a:rPr>
              <a:t>python -m app.cli doctor
python -m app.cli demo</a:t>
            </a:r>
          </a:p>
        </p:txBody>
      </p:sp>
      <p:sp>
        <p:nvSpPr>
          <p:cNvPr id="40" name="TextBox 39"/>
          <p:cNvSpPr txBox="1"/>
          <p:nvPr/>
        </p:nvSpPr>
        <p:spPr>
          <a:xfrm>
            <a:off x="6446520" y="3790187"/>
            <a:ext cx="5120640" cy="182880"/>
          </a:xfrm>
          <a:prstGeom prst="rect">
            <a:avLst/>
          </a:prstGeom>
          <a:noFill/>
        </p:spPr>
        <p:txBody>
          <a:bodyPr wrap="square" anchor="t" lIns="0" rIns="0" tIns="0" bIns="0">
            <a:spAutoFit/>
          </a:bodyPr>
          <a:lstStyle/>
          <a:p>
            <a:pPr algn="l">
              <a:lnSpc>
                <a:spcPct val="115000"/>
              </a:lnSpc>
              <a:spcBef>
                <a:spcPts val="0"/>
              </a:spcBef>
              <a:spcAft>
                <a:spcPts val="500"/>
              </a:spcAft>
            </a:pPr>
            <a:r>
              <a:rPr sz="850" b="1">
                <a:solidFill>
                  <a:srgbClr val="BE4A15"/>
                </a:solidFill>
                <a:latin typeface="Consolas"/>
              </a:rPr>
              <a:t>USE IT ON A RECORDING</a:t>
            </a:r>
          </a:p>
        </p:txBody>
      </p:sp>
      <p:sp>
        <p:nvSpPr>
          <p:cNvPr id="41" name="Rectangle 40"/>
          <p:cNvSpPr/>
          <p:nvPr/>
        </p:nvSpPr>
        <p:spPr>
          <a:xfrm>
            <a:off x="6446520" y="3973067"/>
            <a:ext cx="5120640" cy="726947"/>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583680" y="4046219"/>
            <a:ext cx="4846320" cy="726947"/>
          </a:xfrm>
          <a:prstGeom prst="rect">
            <a:avLst/>
          </a:prstGeom>
          <a:noFill/>
        </p:spPr>
        <p:txBody>
          <a:bodyPr wrap="square" anchor="t" lIns="0" rIns="0" tIns="0" bIns="0">
            <a:spAutoFit/>
          </a:bodyPr>
          <a:lstStyle/>
          <a:p>
            <a:pPr algn="l">
              <a:lnSpc>
                <a:spcPct val="122000"/>
              </a:lnSpc>
              <a:spcBef>
                <a:spcPts val="0"/>
              </a:spcBef>
              <a:spcAft>
                <a:spcPts val="0"/>
              </a:spcAft>
            </a:pPr>
            <a:r>
              <a:rPr sz="950" b="0">
                <a:solidFill>
                  <a:srgbClr val="454E5C"/>
                </a:solidFill>
                <a:latin typeface="Consolas"/>
              </a:rPr>
              <a:t>python -m app.cli new --video ~/rec.mp4
python -m app.cli run &lt;job_id&gt; --save
python -m app.cli diff &lt;old&gt; &lt;new&gt; --save</a:t>
            </a:r>
          </a:p>
        </p:txBody>
      </p:sp>
      <p:sp>
        <p:nvSpPr>
          <p:cNvPr id="43" name="TextBox 42"/>
          <p:cNvSpPr txBox="1"/>
          <p:nvPr/>
        </p:nvSpPr>
        <p:spPr>
          <a:xfrm>
            <a:off x="6446520" y="4791454"/>
            <a:ext cx="5120640" cy="182880"/>
          </a:xfrm>
          <a:prstGeom prst="rect">
            <a:avLst/>
          </a:prstGeom>
          <a:noFill/>
        </p:spPr>
        <p:txBody>
          <a:bodyPr wrap="square" anchor="t" lIns="0" rIns="0" tIns="0" bIns="0">
            <a:spAutoFit/>
          </a:bodyPr>
          <a:lstStyle/>
          <a:p>
            <a:pPr algn="l">
              <a:lnSpc>
                <a:spcPct val="115000"/>
              </a:lnSpc>
              <a:spcBef>
                <a:spcPts val="0"/>
              </a:spcBef>
              <a:spcAft>
                <a:spcPts val="500"/>
              </a:spcAft>
            </a:pPr>
            <a:r>
              <a:rPr sz="850" b="1">
                <a:solidFill>
                  <a:srgbClr val="BE4A15"/>
                </a:solidFill>
                <a:latin typeface="Consolas"/>
              </a:rPr>
              <a:t>RUN BOTH HALVES</a:t>
            </a:r>
          </a:p>
        </p:txBody>
      </p:sp>
      <p:sp>
        <p:nvSpPr>
          <p:cNvPr id="44" name="Rectangle 43"/>
          <p:cNvSpPr/>
          <p:nvPr/>
        </p:nvSpPr>
        <p:spPr>
          <a:xfrm>
            <a:off x="6446520" y="4974334"/>
            <a:ext cx="5120640" cy="557784"/>
          </a:xfrm>
          <a:prstGeom prst="rect">
            <a:avLst/>
          </a:prstGeom>
          <a:solidFill>
            <a:srgbClr val="FFFFFF"/>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583680" y="5047486"/>
            <a:ext cx="4846320" cy="557784"/>
          </a:xfrm>
          <a:prstGeom prst="rect">
            <a:avLst/>
          </a:prstGeom>
          <a:noFill/>
        </p:spPr>
        <p:txBody>
          <a:bodyPr wrap="square" anchor="t" lIns="0" rIns="0" tIns="0" bIns="0">
            <a:spAutoFit/>
          </a:bodyPr>
          <a:lstStyle/>
          <a:p>
            <a:pPr algn="l">
              <a:lnSpc>
                <a:spcPct val="122000"/>
              </a:lnSpc>
              <a:spcBef>
                <a:spcPts val="0"/>
              </a:spcBef>
              <a:spcAft>
                <a:spcPts val="0"/>
              </a:spcAft>
            </a:pPr>
            <a:r>
              <a:rPr sz="950" b="0">
                <a:solidFill>
                  <a:srgbClr val="454E5C"/>
                </a:solidFill>
                <a:latin typeface="Consolas"/>
              </a:rPr>
              <a:t>python -m uvicorn app.main:app --port 8000
cd client &amp;&amp; npm run dev</a:t>
            </a:r>
          </a:p>
        </p:txBody>
      </p:sp>
      <p:sp>
        <p:nvSpPr>
          <p:cNvPr id="46" name="TextBox 45"/>
          <p:cNvSpPr txBox="1"/>
          <p:nvPr/>
        </p:nvSpPr>
        <p:spPr>
          <a:xfrm>
            <a:off x="640080" y="5760720"/>
            <a:ext cx="10972800" cy="411480"/>
          </a:xfrm>
          <a:prstGeom prst="rect">
            <a:avLst/>
          </a:prstGeom>
          <a:noFill/>
        </p:spPr>
        <p:txBody>
          <a:bodyPr wrap="square" anchor="t" lIns="0" rIns="0" tIns="0" bIns="0">
            <a:spAutoFit/>
          </a:bodyPr>
          <a:lstStyle/>
          <a:p>
            <a:pPr algn="l">
              <a:lnSpc>
                <a:spcPct val="122000"/>
              </a:lnSpc>
              <a:spcBef>
                <a:spcPts val="0"/>
              </a:spcBef>
              <a:spcAft>
                <a:spcPts val="500"/>
              </a:spcAft>
            </a:pPr>
            <a:r>
              <a:rPr sz="1100" b="0">
                <a:solidFill>
                  <a:srgbClr val="6E7885"/>
                </a:solidFill>
                <a:latin typeface="Calibri"/>
              </a:rPr>
              <a:t>A client supplies a screen recording and one API key. Nothing else. Every setting that matters — how closely the video is examined, how strictly steps are matched, how the writing should sound, which model to use, what a job may cost — lives in a single config file, and can be overridden for one upload without editing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